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sldIdLst>
    <p:sldId id="256" r:id="rId2"/>
    <p:sldId id="273" r:id="rId3"/>
    <p:sldId id="274" r:id="rId4"/>
    <p:sldId id="275" r:id="rId5"/>
    <p:sldId id="276" r:id="rId6"/>
    <p:sldId id="277" r:id="rId7"/>
    <p:sldId id="271" r:id="rId8"/>
    <p:sldId id="272"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D08330C-B4E0-4A55-83BD-FE8DA70D9D87}">
          <p14:sldIdLst>
            <p14:sldId id="256"/>
            <p14:sldId id="273"/>
            <p14:sldId id="274"/>
            <p14:sldId id="275"/>
            <p14:sldId id="276"/>
            <p14:sldId id="277"/>
            <p14:sldId id="271"/>
            <p14:sldId id="272"/>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80" d="100"/>
          <a:sy n="80" d="100"/>
        </p:scale>
        <p:origin x="3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B005785-1C94-4EA9-B929-2CCD955333F7}" type="datetimeFigureOut">
              <a:rPr lang="en-US" smtClean="0"/>
              <a:t>7/9/2022</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208130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407610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005785-1C94-4EA9-B929-2CCD955333F7}"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028937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005785-1C94-4EA9-B929-2CCD955333F7}"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5570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005785-1C94-4EA9-B929-2CCD955333F7}" type="datetimeFigureOut">
              <a:rPr lang="en-US" smtClean="0"/>
              <a:t>7/9/2022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9876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005785-1C94-4EA9-B929-2CCD955333F7}" type="datetimeFigureOut">
              <a:rPr lang="en-US" smtClean="0"/>
              <a:t>7/9/2022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400976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05785-1C94-4EA9-B929-2CCD955333F7}" type="datetimeFigureOut">
              <a:rPr lang="en-US" smtClean="0"/>
              <a:t>7/9/2022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567235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1148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96836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55980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779487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85677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7/9/2022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0713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7/9/2022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42599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7/9/2022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12938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9803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7/9/2022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19997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B005785-1C94-4EA9-B929-2CCD955333F7}" type="datetimeFigureOut">
              <a:rPr lang="en-US" smtClean="0"/>
              <a:t>7/9/2022</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ABFB1E8-4A6F-4D0D-9F94-8F8A42A69B09}" type="slidenum">
              <a:rPr lang="en-US" smtClean="0"/>
              <a:t>‹#›</a:t>
            </a:fld>
            <a:endParaRPr lang="en-US"/>
          </a:p>
        </p:txBody>
      </p:sp>
    </p:spTree>
    <p:extLst>
      <p:ext uri="{BB962C8B-B14F-4D97-AF65-F5344CB8AC3E}">
        <p14:creationId xmlns:p14="http://schemas.microsoft.com/office/powerpoint/2010/main" val="1128980200"/>
      </p:ext>
    </p:extLst>
  </p:cSld>
  <p:clrMap bg1="dk1" tx1="lt1" bg2="dk2" tx2="lt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3" y="1122363"/>
            <a:ext cx="9561889" cy="2387600"/>
          </a:xfrm>
        </p:spPr>
        <p:txBody>
          <a:bodyPr>
            <a:normAutofit/>
          </a:bodyPr>
          <a:lstStyle/>
          <a:p>
            <a:r>
              <a:rPr lang="vi-VN" b="1" dirty="0" smtClean="0">
                <a:latin typeface="UVN Saigon" panose="00000400000000000000" pitchFamily="2" charset="0"/>
              </a:rPr>
              <a:t>Ư</a:t>
            </a:r>
            <a:r>
              <a:rPr lang="en-US" b="1" dirty="0" smtClean="0">
                <a:latin typeface="UVN Saigon" panose="00000400000000000000" pitchFamily="2" charset="0"/>
              </a:rPr>
              <a:t>ớc lượng điểm và </a:t>
            </a:r>
            <a:br>
              <a:rPr lang="en-US" b="1" dirty="0" smtClean="0">
                <a:latin typeface="UVN Saigon" panose="00000400000000000000" pitchFamily="2" charset="0"/>
              </a:rPr>
            </a:br>
            <a:r>
              <a:rPr lang="en-US" b="1" dirty="0" smtClean="0">
                <a:latin typeface="UVN Saigon" panose="00000400000000000000" pitchFamily="2" charset="0"/>
              </a:rPr>
              <a:t>ước lượng khoảng</a:t>
            </a:r>
            <a:endParaRPr lang="en-US" b="1" dirty="0">
              <a:latin typeface="UVN Saigon" panose="00000400000000000000" pitchFamily="2" charset="0"/>
            </a:endParaRPr>
          </a:p>
        </p:txBody>
      </p:sp>
      <p:sp>
        <p:nvSpPr>
          <p:cNvPr id="3" name="Subtitle 2"/>
          <p:cNvSpPr>
            <a:spLocks noGrp="1"/>
          </p:cNvSpPr>
          <p:nvPr>
            <p:ph type="subTitle" idx="1"/>
          </p:nvPr>
        </p:nvSpPr>
        <p:spPr>
          <a:xfrm>
            <a:off x="2211983" y="3942631"/>
            <a:ext cx="8791575" cy="1655762"/>
          </a:xfrm>
        </p:spPr>
        <p:txBody>
          <a:bodyPr>
            <a:normAutofit/>
          </a:bodyPr>
          <a:lstStyle/>
          <a:p>
            <a:pPr algn="ctr"/>
            <a:r>
              <a:rPr lang="en-US" dirty="0" smtClean="0"/>
              <a:t>Lê Phúc Lữ, IUH 2022</a:t>
            </a:r>
          </a:p>
          <a:p>
            <a:pPr algn="ctr"/>
            <a:r>
              <a:rPr lang="en-US" dirty="0" smtClean="0"/>
              <a:t>Khoa học dữ liệu K15</a:t>
            </a:r>
            <a:endParaRPr lang="en-US" dirty="0"/>
          </a:p>
        </p:txBody>
      </p:sp>
    </p:spTree>
    <p:extLst>
      <p:ext uri="{BB962C8B-B14F-4D97-AF65-F5344CB8AC3E}">
        <p14:creationId xmlns:p14="http://schemas.microsoft.com/office/powerpoint/2010/main" val="836118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Ôn tập về joinly distribution</a:t>
            </a:r>
            <a:endParaRPr lang="en-US" dirty="0"/>
          </a:p>
        </p:txBody>
      </p:sp>
      <p:sp>
        <p:nvSpPr>
          <p:cNvPr id="3" name="Content Placeholder 2"/>
          <p:cNvSpPr>
            <a:spLocks noGrp="1"/>
          </p:cNvSpPr>
          <p:nvPr>
            <p:ph idx="1"/>
          </p:nvPr>
        </p:nvSpPr>
        <p:spPr>
          <a:xfrm>
            <a:off x="725775" y="1991793"/>
            <a:ext cx="9905999" cy="3541714"/>
          </a:xfrm>
        </p:spPr>
        <p:txBody>
          <a:bodyPr/>
          <a:lstStyle/>
          <a:p>
            <a:endParaRPr lang="en-US"/>
          </a:p>
        </p:txBody>
      </p:sp>
      <p:pic>
        <p:nvPicPr>
          <p:cNvPr id="4" name="Picture 3"/>
          <p:cNvPicPr>
            <a:picLocks noChangeAspect="1"/>
          </p:cNvPicPr>
          <p:nvPr/>
        </p:nvPicPr>
        <p:blipFill>
          <a:blip r:embed="rId2"/>
          <a:stretch>
            <a:fillRect/>
          </a:stretch>
        </p:blipFill>
        <p:spPr>
          <a:xfrm>
            <a:off x="335076" y="1808913"/>
            <a:ext cx="10949709" cy="3444731"/>
          </a:xfrm>
          <a:prstGeom prst="rect">
            <a:avLst/>
          </a:prstGeom>
        </p:spPr>
      </p:pic>
    </p:spTree>
    <p:extLst>
      <p:ext uri="{BB962C8B-B14F-4D97-AF65-F5344CB8AC3E}">
        <p14:creationId xmlns:p14="http://schemas.microsoft.com/office/powerpoint/2010/main" val="3155528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Lời giải</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729047" y="1749966"/>
            <a:ext cx="9138458" cy="4690383"/>
          </a:xfrm>
          <a:prstGeom prst="rect">
            <a:avLst/>
          </a:prstGeom>
        </p:spPr>
      </p:pic>
    </p:spTree>
    <p:extLst>
      <p:ext uri="{BB962C8B-B14F-4D97-AF65-F5344CB8AC3E}">
        <p14:creationId xmlns:p14="http://schemas.microsoft.com/office/powerpoint/2010/main" val="1945526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41412" y="695671"/>
            <a:ext cx="10096500" cy="5200650"/>
          </a:xfrm>
          <a:prstGeom prst="rect">
            <a:avLst/>
          </a:prstGeom>
        </p:spPr>
      </p:pic>
    </p:spTree>
    <p:extLst>
      <p:ext uri="{BB962C8B-B14F-4D97-AF65-F5344CB8AC3E}">
        <p14:creationId xmlns:p14="http://schemas.microsoft.com/office/powerpoint/2010/main" val="2081377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49478" y="1357803"/>
            <a:ext cx="9115425" cy="4648200"/>
          </a:xfrm>
          <a:prstGeom prst="rect">
            <a:avLst/>
          </a:prstGeom>
        </p:spPr>
      </p:pic>
    </p:spTree>
    <p:extLst>
      <p:ext uri="{BB962C8B-B14F-4D97-AF65-F5344CB8AC3E}">
        <p14:creationId xmlns:p14="http://schemas.microsoft.com/office/powerpoint/2010/main" val="2911540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CÔNG THỨC CẦN NHỚ</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018992" y="2553824"/>
            <a:ext cx="6048294" cy="2908721"/>
          </a:xfrm>
          <a:prstGeom prst="rect">
            <a:avLst/>
          </a:prstGeom>
        </p:spPr>
      </p:pic>
    </p:spTree>
    <p:extLst>
      <p:ext uri="{BB962C8B-B14F-4D97-AF65-F5344CB8AC3E}">
        <p14:creationId xmlns:p14="http://schemas.microsoft.com/office/powerpoint/2010/main" val="2517640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Bt ôn tập TÍNH XÁC SUẤT HẬU NGHIỆM</a:t>
            </a:r>
            <a:endParaRPr lang="en-US" b="1"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41412" y="2249487"/>
            <a:ext cx="9905999" cy="1984300"/>
          </a:xfrm>
          <a:prstGeom prst="rect">
            <a:avLst/>
          </a:prstGeom>
        </p:spPr>
      </p:pic>
    </p:spTree>
    <p:extLst>
      <p:ext uri="{BB962C8B-B14F-4D97-AF65-F5344CB8AC3E}">
        <p14:creationId xmlns:p14="http://schemas.microsoft.com/office/powerpoint/2010/main" val="848778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Lời giải</a:t>
            </a:r>
            <a:endParaRPr lang="en-US" dirty="0"/>
          </a:p>
        </p:txBody>
      </p:sp>
      <p:pic>
        <p:nvPicPr>
          <p:cNvPr id="4" name="Content Placeholder 3"/>
          <p:cNvPicPr>
            <a:picLocks noGrp="1" noChangeAspect="1"/>
          </p:cNvPicPr>
          <p:nvPr>
            <p:ph idx="1"/>
          </p:nvPr>
        </p:nvPicPr>
        <p:blipFill>
          <a:blip r:embed="rId2"/>
          <a:stretch>
            <a:fillRect/>
          </a:stretch>
        </p:blipFill>
        <p:spPr>
          <a:xfrm>
            <a:off x="3647844" y="828011"/>
            <a:ext cx="5246773" cy="5470533"/>
          </a:xfrm>
          <a:prstGeom prst="rect">
            <a:avLst/>
          </a:prstGeom>
        </p:spPr>
      </p:pic>
    </p:spTree>
    <p:extLst>
      <p:ext uri="{BB962C8B-B14F-4D97-AF65-F5344CB8AC3E}">
        <p14:creationId xmlns:p14="http://schemas.microsoft.com/office/powerpoint/2010/main" val="3878652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A Posteriori (MAP) </a:t>
            </a:r>
          </a:p>
        </p:txBody>
      </p:sp>
      <p:sp>
        <p:nvSpPr>
          <p:cNvPr id="3" name="Content Placeholder 2"/>
          <p:cNvSpPr>
            <a:spLocks noGrp="1"/>
          </p:cNvSpPr>
          <p:nvPr>
            <p:ph idx="1"/>
          </p:nvPr>
        </p:nvSpPr>
        <p:spPr/>
        <p:txBody>
          <a:bodyPr/>
          <a:lstStyle/>
          <a:p>
            <a:pPr algn="just"/>
            <a:r>
              <a:rPr lang="vi-VN" dirty="0">
                <a:latin typeface="Tw Cen MT (Body)"/>
              </a:rPr>
              <a:t>Phân phối hậu nghiệm </a:t>
            </a:r>
            <a:r>
              <a:rPr lang="vi-VN" dirty="0" smtClean="0">
                <a:latin typeface="Tw Cen MT (Body)"/>
              </a:rPr>
              <a:t>f</a:t>
            </a:r>
            <a:r>
              <a:rPr lang="vi-VN" baseline="-25000" dirty="0" smtClean="0">
                <a:latin typeface="Tw Cen MT (Body)"/>
              </a:rPr>
              <a:t>X|Y</a:t>
            </a:r>
            <a:r>
              <a:rPr lang="vi-VN" dirty="0" smtClean="0">
                <a:latin typeface="Tw Cen MT (Body)"/>
              </a:rPr>
              <a:t>(x|y</a:t>
            </a:r>
            <a:r>
              <a:rPr lang="vi-VN" dirty="0">
                <a:latin typeface="Tw Cen MT (Body)"/>
              </a:rPr>
              <a:t>) (hay </a:t>
            </a:r>
            <a:r>
              <a:rPr lang="vi-VN" dirty="0" smtClean="0">
                <a:latin typeface="Tw Cen MT (Body)"/>
              </a:rPr>
              <a:t>P</a:t>
            </a:r>
            <a:r>
              <a:rPr lang="vi-VN" baseline="-25000" dirty="0" smtClean="0">
                <a:latin typeface="Tw Cen MT (Body)"/>
              </a:rPr>
              <a:t>X|Y</a:t>
            </a:r>
            <a:r>
              <a:rPr lang="vi-VN" dirty="0" smtClean="0">
                <a:latin typeface="Tw Cen MT (Body)"/>
              </a:rPr>
              <a:t>(x|y</a:t>
            </a:r>
            <a:r>
              <a:rPr lang="vi-VN" dirty="0">
                <a:latin typeface="Tw Cen MT (Body)"/>
              </a:rPr>
              <a:t>)) chứa các thông tin chưa xác định về biến X. Ta có thể dùng phân phối này để ước lượng giá trị/khoảng giá trị cho X. Một trong số các cách ước lượng là tìm x để cho các hậu nghiệm PDF/PMF đạt giá trị lớn nhất. Đó gọi là ước lượng cực đại hậu </a:t>
            </a:r>
            <a:r>
              <a:rPr lang="vi-VN" dirty="0" smtClean="0">
                <a:latin typeface="Tw Cen MT (Body)"/>
              </a:rPr>
              <a:t>nghiệm </a:t>
            </a:r>
            <a:r>
              <a:rPr lang="vi-VN" dirty="0">
                <a:latin typeface="Tw Cen MT (Body)"/>
              </a:rPr>
              <a:t>(MAP</a:t>
            </a:r>
            <a:r>
              <a:rPr lang="vi-VN" dirty="0" smtClean="0">
                <a:latin typeface="Tw Cen MT (Body)"/>
              </a:rPr>
              <a:t>).</a:t>
            </a:r>
            <a:endParaRPr lang="en-US" dirty="0" smtClean="0">
              <a:latin typeface="Tw Cen MT (Body)"/>
            </a:endParaRPr>
          </a:p>
          <a:p>
            <a:r>
              <a:rPr lang="en-US" dirty="0" smtClean="0"/>
              <a:t>Ký hiệu là x</a:t>
            </a:r>
            <a:r>
              <a:rPr lang="en-US" baseline="-25000" dirty="0" smtClean="0"/>
              <a:t>MAP</a:t>
            </a:r>
            <a:r>
              <a:rPr lang="en-US" dirty="0" smtClean="0"/>
              <a:t>.</a:t>
            </a:r>
            <a:endParaRPr lang="en-US" dirty="0"/>
          </a:p>
        </p:txBody>
      </p:sp>
    </p:spTree>
    <p:extLst>
      <p:ext uri="{BB962C8B-B14F-4D97-AF65-F5344CB8AC3E}">
        <p14:creationId xmlns:p14="http://schemas.microsoft.com/office/powerpoint/2010/main" val="4051386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(cont)</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endParaRPr lang="en-US" dirty="0"/>
          </a:p>
          <a:p>
            <a:endParaRPr lang="en-US" dirty="0" smtClean="0"/>
          </a:p>
          <a:p>
            <a:r>
              <a:rPr lang="en-US" dirty="0" smtClean="0"/>
              <a:t>Chú ý rằng ta có công thức                                      với mẫu số không phụ thuộc vào X.</a:t>
            </a:r>
          </a:p>
          <a:p>
            <a:r>
              <a:rPr lang="en-US" dirty="0" smtClean="0"/>
              <a:t>Vì thế để tìm max của vế trái, ta sẽ quan tâm đến tích trên tử số, chính là tích của tiên nghiệm và likelihood.  </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00553" y="1832830"/>
            <a:ext cx="6531413" cy="1690015"/>
          </a:xfrm>
          <a:prstGeom prst="rect">
            <a:avLst/>
          </a:prstGeom>
        </p:spPr>
      </p:pic>
      <p:pic>
        <p:nvPicPr>
          <p:cNvPr id="6" name="Picture 5"/>
          <p:cNvPicPr>
            <a:picLocks noChangeAspect="1"/>
          </p:cNvPicPr>
          <p:nvPr/>
        </p:nvPicPr>
        <p:blipFill>
          <a:blip r:embed="rId3"/>
          <a:stretch>
            <a:fillRect/>
          </a:stretch>
        </p:blipFill>
        <p:spPr>
          <a:xfrm>
            <a:off x="5598644" y="3656897"/>
            <a:ext cx="3343275" cy="1000125"/>
          </a:xfrm>
          <a:prstGeom prst="rect">
            <a:avLst/>
          </a:prstGeom>
        </p:spPr>
      </p:pic>
    </p:spTree>
    <p:extLst>
      <p:ext uri="{BB962C8B-B14F-4D97-AF65-F5344CB8AC3E}">
        <p14:creationId xmlns:p14="http://schemas.microsoft.com/office/powerpoint/2010/main" val="672548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729557" y="1935126"/>
            <a:ext cx="8298346" cy="3656147"/>
          </a:xfrm>
          <a:prstGeom prst="rect">
            <a:avLst/>
          </a:prstGeom>
        </p:spPr>
      </p:pic>
    </p:spTree>
    <p:extLst>
      <p:ext uri="{BB962C8B-B14F-4D97-AF65-F5344CB8AC3E}">
        <p14:creationId xmlns:p14="http://schemas.microsoft.com/office/powerpoint/2010/main" val="1951227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9019"/>
            <a:ext cx="9905998" cy="1136387"/>
          </a:xfrm>
        </p:spPr>
        <p:txBody>
          <a:bodyPr/>
          <a:lstStyle/>
          <a:p>
            <a:r>
              <a:rPr lang="en-US" dirty="0" smtClean="0"/>
              <a:t>LỜI GIẢI</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108814" y="1068405"/>
            <a:ext cx="7668999" cy="5272938"/>
          </a:xfrm>
          <a:prstGeom prst="rect">
            <a:avLst/>
          </a:prstGeom>
        </p:spPr>
      </p:pic>
    </p:spTree>
    <p:extLst>
      <p:ext uri="{BB962C8B-B14F-4D97-AF65-F5344CB8AC3E}">
        <p14:creationId xmlns:p14="http://schemas.microsoft.com/office/powerpoint/2010/main" val="3714441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SÁNH VỚI ML ESTIMATION</a:t>
            </a:r>
            <a:endParaRPr lang="en-US" dirty="0"/>
          </a:p>
        </p:txBody>
      </p:sp>
      <p:sp>
        <p:nvSpPr>
          <p:cNvPr id="3" name="Content Placeholder 2"/>
          <p:cNvSpPr>
            <a:spLocks noGrp="1"/>
          </p:cNvSpPr>
          <p:nvPr>
            <p:ph idx="1"/>
          </p:nvPr>
        </p:nvSpPr>
        <p:spPr/>
        <p:txBody>
          <a:bodyPr/>
          <a:lstStyle/>
          <a:p>
            <a:pPr algn="just"/>
            <a:r>
              <a:rPr lang="en-US" dirty="0" smtClean="0"/>
              <a:t>ML (maximum likelihood) estimation là việc tìm x để cho hàm likelihood f</a:t>
            </a:r>
            <a:r>
              <a:rPr lang="en-US" baseline="-25000" dirty="0" smtClean="0"/>
              <a:t>Y|X</a:t>
            </a:r>
            <a:r>
              <a:rPr lang="en-US" dirty="0" smtClean="0"/>
              <a:t> (y|x) đạt giá trị lớn nhất. Nó khá giống với bài toán MAP ở trên, tuy nhiên ở đây </a:t>
            </a:r>
            <a:r>
              <a:rPr lang="en-US" dirty="0" smtClean="0"/>
              <a:t>không có nhân </a:t>
            </a:r>
            <a:r>
              <a:rPr lang="en-US" dirty="0" smtClean="0"/>
              <a:t>thêm tiên nghiệm f</a:t>
            </a:r>
            <a:r>
              <a:rPr lang="en-US" baseline="-25000" dirty="0" smtClean="0"/>
              <a:t>X</a:t>
            </a:r>
            <a:r>
              <a:rPr lang="en-US" dirty="0" smtClean="0"/>
              <a:t>(x) trong biểu thức cần tìm cực trị. </a:t>
            </a:r>
            <a:endParaRPr lang="en-US" dirty="0" smtClean="0"/>
          </a:p>
          <a:p>
            <a:pPr algn="just"/>
            <a:r>
              <a:rPr lang="en-US" dirty="0" smtClean="0"/>
              <a:t>Trong </a:t>
            </a:r>
            <a:r>
              <a:rPr lang="en-US" dirty="0" smtClean="0"/>
              <a:t>trường hợp tiên nghiệm đó là phân phối đều thì giá trị x tìm được </a:t>
            </a:r>
            <a:r>
              <a:rPr lang="en-US" dirty="0" smtClean="0"/>
              <a:t>trong hai bài toán sẽ </a:t>
            </a:r>
            <a:r>
              <a:rPr lang="en-US" dirty="0" smtClean="0"/>
              <a:t>như nhau.</a:t>
            </a:r>
            <a:endParaRPr lang="en-US" dirty="0"/>
          </a:p>
        </p:txBody>
      </p:sp>
    </p:spTree>
    <p:extLst>
      <p:ext uri="{BB962C8B-B14F-4D97-AF65-F5344CB8AC3E}">
        <p14:creationId xmlns:p14="http://schemas.microsoft.com/office/powerpoint/2010/main" val="89151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41373" y="2249487"/>
            <a:ext cx="10506075" cy="2600325"/>
          </a:xfrm>
          <a:prstGeom prst="rect">
            <a:avLst/>
          </a:prstGeom>
        </p:spPr>
      </p:pic>
    </p:spTree>
    <p:extLst>
      <p:ext uri="{BB962C8B-B14F-4D97-AF65-F5344CB8AC3E}">
        <p14:creationId xmlns:p14="http://schemas.microsoft.com/office/powerpoint/2010/main" val="3591671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039528"/>
          </a:xfrm>
        </p:spPr>
        <p:txBody>
          <a:bodyPr/>
          <a:lstStyle/>
          <a:p>
            <a:r>
              <a:rPr lang="en-US" smtClean="0"/>
              <a:t>Lời giải</a:t>
            </a:r>
            <a:endParaRPr lang="en-US"/>
          </a:p>
        </p:txBody>
      </p:sp>
      <p:pic>
        <p:nvPicPr>
          <p:cNvPr id="4" name="Picture 3"/>
          <p:cNvPicPr>
            <a:picLocks noChangeAspect="1"/>
          </p:cNvPicPr>
          <p:nvPr/>
        </p:nvPicPr>
        <p:blipFill>
          <a:blip r:embed="rId2"/>
          <a:stretch>
            <a:fillRect/>
          </a:stretch>
        </p:blipFill>
        <p:spPr>
          <a:xfrm>
            <a:off x="3682537" y="283580"/>
            <a:ext cx="6188607" cy="6188607"/>
          </a:xfrm>
          <a:prstGeom prst="rect">
            <a:avLst/>
          </a:prstGeom>
        </p:spPr>
      </p:pic>
    </p:spTree>
    <p:extLst>
      <p:ext uri="{BB962C8B-B14F-4D97-AF65-F5344CB8AC3E}">
        <p14:creationId xmlns:p14="http://schemas.microsoft.com/office/powerpoint/2010/main" val="2044413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Conditional </a:t>
            </a:r>
            <a:r>
              <a:rPr lang="en-US" b="1" dirty="0" smtClean="0"/>
              <a:t>Expectation (MMSE)</a:t>
            </a:r>
            <a:endParaRPr lang="en-US" dirty="0"/>
          </a:p>
        </p:txBody>
      </p:sp>
      <p:sp>
        <p:nvSpPr>
          <p:cNvPr id="3" name="Content Placeholder 2"/>
          <p:cNvSpPr>
            <a:spLocks noGrp="1"/>
          </p:cNvSpPr>
          <p:nvPr>
            <p:ph idx="1"/>
          </p:nvPr>
        </p:nvSpPr>
        <p:spPr/>
        <p:txBody>
          <a:bodyPr>
            <a:normAutofit lnSpcReduction="10000"/>
          </a:bodyPr>
          <a:lstStyle/>
          <a:p>
            <a:pPr algn="just"/>
            <a:r>
              <a:rPr lang="vi-VN" dirty="0"/>
              <a:t>Để ước lượng điểm cho X, ta có thể lấy các giá trị đặc trưng thống kê của hậu nghiệm như mean, median, mode. Nếu ta chọn mode, ta có bài toán MAP ở trên. Ngoài cách đó ra, ta còn có thể chọn mean của hậu nghiệm fX|Y (x|y), ta quy về xét x = E[X|Y=y</a:t>
            </a:r>
            <a:r>
              <a:rPr lang="vi-VN" dirty="0" smtClean="0"/>
              <a:t>].</a:t>
            </a:r>
            <a:endParaRPr lang="vi-VN" dirty="0"/>
          </a:p>
          <a:p>
            <a:pPr algn="just"/>
            <a:r>
              <a:rPr lang="en-US" dirty="0" smtClean="0"/>
              <a:t>Đại lượng kỳ </a:t>
            </a:r>
            <a:r>
              <a:rPr lang="vi-VN" dirty="0" smtClean="0"/>
              <a:t>vọng </a:t>
            </a:r>
            <a:r>
              <a:rPr lang="vi-VN" dirty="0"/>
              <a:t>này cho biết các thông tin tốt nhất của X, và còn được gọi là minimum mean squared error (MMSE) esimate hoặc là Bayes' estimate của X</a:t>
            </a:r>
            <a:r>
              <a:rPr lang="vi-VN" dirty="0" smtClean="0"/>
              <a:t>.</a:t>
            </a:r>
            <a:r>
              <a:rPr lang="en-US" dirty="0" smtClean="0"/>
              <a:t> Chú ý rằng ở đây ta sẽ có một hàm theo biến y chứ không phải một giá trị cụ thể.</a:t>
            </a:r>
            <a:endParaRPr lang="en-US" dirty="0"/>
          </a:p>
        </p:txBody>
      </p:sp>
    </p:spTree>
    <p:extLst>
      <p:ext uri="{BB962C8B-B14F-4D97-AF65-F5344CB8AC3E}">
        <p14:creationId xmlns:p14="http://schemas.microsoft.com/office/powerpoint/2010/main" val="58849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130742" y="1994418"/>
            <a:ext cx="7764188" cy="3910681"/>
          </a:xfrm>
          <a:prstGeom prst="rect">
            <a:avLst/>
          </a:prstGeom>
        </p:spPr>
      </p:pic>
    </p:spTree>
    <p:extLst>
      <p:ext uri="{BB962C8B-B14F-4D97-AF65-F5344CB8AC3E}">
        <p14:creationId xmlns:p14="http://schemas.microsoft.com/office/powerpoint/2010/main" val="2448644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Lời giải</a:t>
            </a:r>
            <a:endParaRPr lang="en-US" dirty="0"/>
          </a:p>
        </p:txBody>
      </p:sp>
      <p:sp>
        <p:nvSpPr>
          <p:cNvPr id="3" name="Content Placeholder 2"/>
          <p:cNvSpPr>
            <a:spLocks noGrp="1"/>
          </p:cNvSpPr>
          <p:nvPr>
            <p:ph idx="1"/>
          </p:nvPr>
        </p:nvSpPr>
        <p:spPr>
          <a:xfrm>
            <a:off x="1141412" y="2274426"/>
            <a:ext cx="9905999" cy="3541714"/>
          </a:xfrm>
        </p:spPr>
        <p:txBody>
          <a:bodyPr/>
          <a:lstStyle/>
          <a:p>
            <a:endParaRPr lang="en-US"/>
          </a:p>
        </p:txBody>
      </p:sp>
      <p:pic>
        <p:nvPicPr>
          <p:cNvPr id="4" name="Picture 3"/>
          <p:cNvPicPr>
            <a:picLocks noChangeAspect="1"/>
          </p:cNvPicPr>
          <p:nvPr/>
        </p:nvPicPr>
        <p:blipFill>
          <a:blip r:embed="rId2"/>
          <a:stretch>
            <a:fillRect/>
          </a:stretch>
        </p:blipFill>
        <p:spPr>
          <a:xfrm>
            <a:off x="3763623" y="115504"/>
            <a:ext cx="5996394" cy="6546134"/>
          </a:xfrm>
          <a:prstGeom prst="rect">
            <a:avLst/>
          </a:prstGeom>
        </p:spPr>
      </p:pic>
    </p:spTree>
    <p:extLst>
      <p:ext uri="{BB962C8B-B14F-4D97-AF65-F5344CB8AC3E}">
        <p14:creationId xmlns:p14="http://schemas.microsoft.com/office/powerpoint/2010/main" val="2616089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Bayesian Interval Estimation</a:t>
            </a:r>
          </a:p>
        </p:txBody>
      </p:sp>
      <p:sp>
        <p:nvSpPr>
          <p:cNvPr id="3" name="Content Placeholder 2"/>
          <p:cNvSpPr>
            <a:spLocks noGrp="1"/>
          </p:cNvSpPr>
          <p:nvPr>
            <p:ph idx="1"/>
          </p:nvPr>
        </p:nvSpPr>
        <p:spPr/>
        <p:txBody>
          <a:bodyPr/>
          <a:lstStyle/>
          <a:p>
            <a:pPr algn="just"/>
            <a:r>
              <a:rPr lang="vi-VN" dirty="0"/>
              <a:t>Ước lượng khoảng là một diễn giải tự </a:t>
            </a:r>
            <a:r>
              <a:rPr lang="vi-VN" dirty="0" smtClean="0"/>
              <a:t>nhiên</a:t>
            </a:r>
            <a:r>
              <a:rPr lang="en-US" dirty="0" smtClean="0"/>
              <a:t> và quan trọng</a:t>
            </a:r>
            <a:r>
              <a:rPr lang="vi-VN" dirty="0" smtClean="0"/>
              <a:t> </a:t>
            </a:r>
            <a:r>
              <a:rPr lang="vi-VN" dirty="0"/>
              <a:t>trong suy luận Bayes. Sau khi </a:t>
            </a:r>
            <a:r>
              <a:rPr lang="en-US" dirty="0" smtClean="0"/>
              <a:t>có</a:t>
            </a:r>
            <a:r>
              <a:rPr lang="vi-VN" dirty="0" smtClean="0"/>
              <a:t> </a:t>
            </a:r>
            <a:r>
              <a:rPr lang="vi-VN" dirty="0"/>
              <a:t>được tiên nghiệm </a:t>
            </a:r>
            <a:r>
              <a:rPr lang="vi-VN" dirty="0" smtClean="0"/>
              <a:t>f</a:t>
            </a:r>
            <a:r>
              <a:rPr lang="vi-VN" baseline="-25000" dirty="0" smtClean="0"/>
              <a:t>X|Y</a:t>
            </a:r>
            <a:r>
              <a:rPr lang="vi-VN" dirty="0" smtClean="0"/>
              <a:t>(x|y</a:t>
            </a:r>
            <a:r>
              <a:rPr lang="vi-VN" dirty="0"/>
              <a:t>), ta sẽ tìm một miền [a;b] sao cho </a:t>
            </a:r>
          </a:p>
          <a:p>
            <a:pPr marL="0" indent="0" algn="ctr">
              <a:buNone/>
            </a:pPr>
            <a:r>
              <a:rPr lang="vi-VN" dirty="0"/>
              <a:t>P(a &lt;= X &lt;= b | Y=y) = 1 - alpha,</a:t>
            </a:r>
          </a:p>
          <a:p>
            <a:pPr marL="0" indent="0">
              <a:buNone/>
            </a:pPr>
            <a:r>
              <a:rPr lang="vi-VN" dirty="0"/>
              <a:t>miền đó được gọi là khoảng tin cậy (1-alpha).100% cho X.</a:t>
            </a:r>
            <a:endParaRPr lang="en-US" dirty="0"/>
          </a:p>
        </p:txBody>
      </p:sp>
    </p:spTree>
    <p:extLst>
      <p:ext uri="{BB962C8B-B14F-4D97-AF65-F5344CB8AC3E}">
        <p14:creationId xmlns:p14="http://schemas.microsoft.com/office/powerpoint/2010/main" val="3200999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951632" y="3100187"/>
            <a:ext cx="10285557" cy="730668"/>
          </a:xfrm>
          <a:prstGeom prst="rect">
            <a:avLst/>
          </a:prstGeom>
        </p:spPr>
      </p:pic>
    </p:spTree>
    <p:extLst>
      <p:ext uri="{BB962C8B-B14F-4D97-AF65-F5344CB8AC3E}">
        <p14:creationId xmlns:p14="http://schemas.microsoft.com/office/powerpoint/2010/main" val="1914460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t>Lời giải</a:t>
            </a:r>
            <a:endParaRPr lang="en-US" dirty="0"/>
          </a:p>
        </p:txBody>
      </p:sp>
      <p:pic>
        <p:nvPicPr>
          <p:cNvPr id="4" name="Picture 3"/>
          <p:cNvPicPr>
            <a:picLocks noChangeAspect="1"/>
          </p:cNvPicPr>
          <p:nvPr/>
        </p:nvPicPr>
        <p:blipFill>
          <a:blip r:embed="rId2"/>
          <a:stretch>
            <a:fillRect/>
          </a:stretch>
        </p:blipFill>
        <p:spPr>
          <a:xfrm>
            <a:off x="2175309" y="1211666"/>
            <a:ext cx="8022156" cy="5242624"/>
          </a:xfrm>
          <a:prstGeom prst="rect">
            <a:avLst/>
          </a:prstGeom>
        </p:spPr>
      </p:pic>
    </p:spTree>
    <p:extLst>
      <p:ext uri="{BB962C8B-B14F-4D97-AF65-F5344CB8AC3E}">
        <p14:creationId xmlns:p14="http://schemas.microsoft.com/office/powerpoint/2010/main" val="2939610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78805"/>
            <a:ext cx="9905998" cy="1478570"/>
          </a:xfrm>
        </p:spPr>
        <p:txBody>
          <a:bodyPr/>
          <a:lstStyle/>
          <a:p>
            <a:r>
              <a:rPr lang="en-US" dirty="0" smtClean="0"/>
              <a:t>Lời giải (tiếp)</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758881" y="1773497"/>
            <a:ext cx="8180826" cy="4493693"/>
          </a:xfrm>
          <a:prstGeom prst="rect">
            <a:avLst/>
          </a:prstGeom>
        </p:spPr>
      </p:pic>
    </p:spTree>
    <p:extLst>
      <p:ext uri="{BB962C8B-B14F-4D97-AF65-F5344CB8AC3E}">
        <p14:creationId xmlns:p14="http://schemas.microsoft.com/office/powerpoint/2010/main" val="36090076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1837</TotalTime>
  <Words>470</Words>
  <Application>Microsoft Office PowerPoint</Application>
  <PresentationFormat>Widescreen</PresentationFormat>
  <Paragraphs>36</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Trebuchet MS</vt:lpstr>
      <vt:lpstr>Tw Cen MT</vt:lpstr>
      <vt:lpstr>Tw Cen MT (Body)</vt:lpstr>
      <vt:lpstr>UVN Saigon</vt:lpstr>
      <vt:lpstr>Circuit</vt:lpstr>
      <vt:lpstr>Ước lượng điểm và  ước lượng khoảng</vt:lpstr>
      <vt:lpstr>Ôn tập về joinly distribution</vt:lpstr>
      <vt:lpstr>Lời giải</vt:lpstr>
      <vt:lpstr>PowerPoint Presentation</vt:lpstr>
      <vt:lpstr>PowerPoint Presentation</vt:lpstr>
      <vt:lpstr>CÁC CÔNG THỨC CẦN NHỚ</vt:lpstr>
      <vt:lpstr>Bt ôn tập TÍNH XÁC SUẤT HẬU NGHIỆM</vt:lpstr>
      <vt:lpstr>Lời giải</vt:lpstr>
      <vt:lpstr>Maximum A Posteriori (MAP) </vt:lpstr>
      <vt:lpstr>MAP (cont)</vt:lpstr>
      <vt:lpstr>Ví dụ</vt:lpstr>
      <vt:lpstr>LỜI GIẢI</vt:lpstr>
      <vt:lpstr>SO SÁNH VỚI ML ESTIMATION</vt:lpstr>
      <vt:lpstr>Ví dụ</vt:lpstr>
      <vt:lpstr>Lời giải</vt:lpstr>
      <vt:lpstr>Conditional Expectation (MMSE)</vt:lpstr>
      <vt:lpstr>Ví dụ</vt:lpstr>
      <vt:lpstr>Lời giải</vt:lpstr>
      <vt:lpstr>Bayesian Interval Estimation</vt:lpstr>
      <vt:lpstr>Ví dụ</vt:lpstr>
      <vt:lpstr>Lời giải</vt:lpstr>
      <vt:lpstr>Lời giải (tiếp)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VỀ BAYESIAN ANALYSIS</dc:title>
  <dc:creator>Lữ Lê Phúc</dc:creator>
  <cp:lastModifiedBy>Lữ Lê Phúc</cp:lastModifiedBy>
  <cp:revision>158</cp:revision>
  <dcterms:created xsi:type="dcterms:W3CDTF">2022-08-11T15:14:01Z</dcterms:created>
  <dcterms:modified xsi:type="dcterms:W3CDTF">2022-09-07T09:10:36Z</dcterms:modified>
</cp:coreProperties>
</file>