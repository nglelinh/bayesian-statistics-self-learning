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08330C-B4E0-4A55-83BD-FE8DA70D9D87}">
          <p14:sldIdLst>
            <p14:sldId id="256"/>
            <p14:sldId id="257"/>
            <p14:sldId id="258"/>
            <p14:sldId id="259"/>
            <p14:sldId id="260"/>
            <p14:sldId id="261"/>
            <p14:sldId id="262"/>
            <p14:sldId id="263"/>
            <p14:sldId id="264"/>
            <p14:sldId id="265"/>
            <p14:sldId id="266"/>
            <p14:sldId id="267"/>
            <p14:sldId id="269"/>
            <p14:sldId id="268"/>
            <p14:sldId id="270"/>
            <p14:sldId id="27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ữ Lê Phúc" initials="LLP" lastIdx="1" clrIdx="0">
    <p:extLst>
      <p:ext uri="{19B8F6BF-5375-455C-9EA6-DF929625EA0E}">
        <p15:presenceInfo xmlns:p15="http://schemas.microsoft.com/office/powerpoint/2012/main" userId="Lữ Lê Phú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1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B005785-1C94-4EA9-B929-2CCD955333F7}" type="datetimeFigureOut">
              <a:rPr lang="en-US" smtClean="0"/>
              <a:t>26/10/2022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20813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26/10/2022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40761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005785-1C94-4EA9-B929-2CCD955333F7}" type="datetimeFigureOut">
              <a:rPr lang="en-US" smtClean="0"/>
              <a:t>26/10/2022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028937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5570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005785-1C94-4EA9-B929-2CCD955333F7}" type="datetimeFigureOut">
              <a:rPr lang="en-US" smtClean="0"/>
              <a:t>26/10/2022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9876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005785-1C94-4EA9-B929-2CCD955333F7}" type="datetimeFigureOut">
              <a:rPr lang="en-US" smtClean="0"/>
              <a:t>26/10/2022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40097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05785-1C94-4EA9-B929-2CCD955333F7}" type="datetimeFigureOut">
              <a:rPr lang="en-US" smtClean="0"/>
              <a:t>26/10/2022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56723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1148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96836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5598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779487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8567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26/10/2022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0713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26/10/2022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42599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26/10/2022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12938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26/10/2022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9803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26/10/2022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19997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B005785-1C94-4EA9-B929-2CCD955333F7}" type="datetimeFigureOut">
              <a:rPr lang="en-US" smtClean="0"/>
              <a:t>26/10/2022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ABFB1E8-4A6F-4D0D-9F94-8F8A42A69B09}" type="slidenum">
              <a:rPr lang="en-US" smtClean="0"/>
              <a:t>‹#›</a:t>
            </a:fld>
            <a:endParaRPr lang="en-US"/>
          </a:p>
        </p:txBody>
      </p:sp>
    </p:spTree>
    <p:extLst>
      <p:ext uri="{BB962C8B-B14F-4D97-AF65-F5344CB8AC3E}">
        <p14:creationId xmlns:p14="http://schemas.microsoft.com/office/powerpoint/2010/main" val="1128980200"/>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3" y="1122363"/>
            <a:ext cx="9561889" cy="1976972"/>
          </a:xfrm>
        </p:spPr>
        <p:txBody>
          <a:bodyPr>
            <a:normAutofit/>
          </a:bodyPr>
          <a:lstStyle/>
          <a:p>
            <a:r>
              <a:rPr lang="en-US" b="1" dirty="0" smtClean="0">
                <a:latin typeface="UVN Saigon" panose="00000400000000000000" pitchFamily="2" charset="0"/>
              </a:rPr>
              <a:t>Phân lớp mẫu</a:t>
            </a:r>
            <a:endParaRPr lang="en-US" b="1" dirty="0">
              <a:latin typeface="UVN Saigon" panose="00000400000000000000" pitchFamily="2" charset="0"/>
            </a:endParaRPr>
          </a:p>
        </p:txBody>
      </p:sp>
      <p:sp>
        <p:nvSpPr>
          <p:cNvPr id="3" name="Subtitle 2"/>
          <p:cNvSpPr>
            <a:spLocks noGrp="1"/>
          </p:cNvSpPr>
          <p:nvPr>
            <p:ph type="subTitle" idx="1"/>
          </p:nvPr>
        </p:nvSpPr>
        <p:spPr>
          <a:xfrm>
            <a:off x="2211983" y="3942631"/>
            <a:ext cx="8791575" cy="1655762"/>
          </a:xfrm>
        </p:spPr>
        <p:txBody>
          <a:bodyPr>
            <a:normAutofit/>
          </a:bodyPr>
          <a:lstStyle/>
          <a:p>
            <a:pPr algn="ctr"/>
            <a:r>
              <a:rPr lang="en-US" dirty="0" smtClean="0"/>
              <a:t>Lê Phúc Lữ, IUH 2022</a:t>
            </a:r>
          </a:p>
          <a:p>
            <a:pPr algn="ctr"/>
            <a:r>
              <a:rPr lang="en-US" dirty="0" smtClean="0"/>
              <a:t>Khoa học dữ liệu K15</a:t>
            </a:r>
            <a:endParaRPr lang="en-US" dirty="0"/>
          </a:p>
        </p:txBody>
      </p:sp>
    </p:spTree>
    <p:extLst>
      <p:ext uri="{BB962C8B-B14F-4D97-AF65-F5344CB8AC3E}">
        <p14:creationId xmlns:p14="http://schemas.microsoft.com/office/powerpoint/2010/main" val="836118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Bài toán Phân lớp mẫu</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Bài toán pattern classification, quyết định xem mẫu đang xét thuộc lớp nào, được giải quyết thông qua lý thuyết Bayesian.</a:t>
            </a:r>
          </a:p>
          <a:p>
            <a:pPr algn="just"/>
            <a:r>
              <a:rPr lang="en-US" dirty="0" smtClean="0"/>
              <a:t>Ví dụ về việc phân loại trái cây: trong dây chuyền có 2 loại là táo và lê, hệ thống cần phân loại chúng và mang đi đóng gói.</a:t>
            </a:r>
          </a:p>
          <a:p>
            <a:pPr marL="0" indent="0" algn="just">
              <a:buNone/>
            </a:pPr>
            <a:r>
              <a:rPr lang="en-US" dirty="0" smtClean="0"/>
              <a:t>Trường hợp bốc tùy ý khi biết trước p(táo) = 0.8, p(lê) = 0.2.</a:t>
            </a:r>
          </a:p>
          <a:p>
            <a:pPr marL="0" indent="0" algn="just">
              <a:buNone/>
            </a:pPr>
            <a:r>
              <a:rPr lang="en-US" dirty="0" smtClean="0"/>
              <a:t>Trường hợp p(táo) = p(lê) = 0.5, ta có thể dựa trên các quan sát về màu sắc, đường viền, đó là các đặc trưng.</a:t>
            </a:r>
            <a:endParaRPr lang="en-US" dirty="0"/>
          </a:p>
        </p:txBody>
      </p:sp>
    </p:spTree>
    <p:extLst>
      <p:ext uri="{BB962C8B-B14F-4D97-AF65-F5344CB8AC3E}">
        <p14:creationId xmlns:p14="http://schemas.microsoft.com/office/powerpoint/2010/main" val="2827713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Ứng dụng Định lý bayes</a:t>
            </a:r>
            <a:endParaRPr lang="en-US" dirty="0"/>
          </a:p>
        </p:txBody>
      </p:sp>
      <p:sp>
        <p:nvSpPr>
          <p:cNvPr id="3" name="Content Placeholder 2"/>
          <p:cNvSpPr>
            <a:spLocks noGrp="1"/>
          </p:cNvSpPr>
          <p:nvPr>
            <p:ph idx="1"/>
          </p:nvPr>
        </p:nvSpPr>
        <p:spPr>
          <a:xfrm>
            <a:off x="1141412" y="2249487"/>
            <a:ext cx="10332833" cy="4052990"/>
          </a:xfrm>
        </p:spPr>
        <p:txBody>
          <a:bodyPr>
            <a:normAutofit lnSpcReduction="10000"/>
          </a:bodyPr>
          <a:lstStyle/>
          <a:p>
            <a:r>
              <a:rPr lang="en-US" dirty="0" smtClean="0"/>
              <a:t>Xét đối tượng có k lớp c1, c2, ..., ck và P(ci) là xác suất phân bố của chúng, đây chính là tiên nghiệm, không dựa vào bất kỳ thông tin mô tả nào của đối tượng.</a:t>
            </a:r>
          </a:p>
          <a:p>
            <a:r>
              <a:rPr lang="en-US" dirty="0" smtClean="0"/>
              <a:t>Để phân loại đối tượng, ta sử dụng các vector đặc trưng </a:t>
            </a:r>
            <a:r>
              <a:rPr lang="en-US" b="1" dirty="0" smtClean="0"/>
              <a:t>x </a:t>
            </a:r>
            <a:r>
              <a:rPr lang="en-US" dirty="0" smtClean="0"/>
              <a:t>trong không gian d chiều, mỗi thành phần là một số thực. Khả năng đối tượng thuộc lớp i có đặc trưng x được cho bởi hàm mật độ có điều kiện P(x|ci), đây chính là likelihood. </a:t>
            </a:r>
          </a:p>
          <a:p>
            <a:r>
              <a:rPr lang="en-US" dirty="0" smtClean="0"/>
              <a:t>Khả năng đối tượng có đặc trưng </a:t>
            </a:r>
            <a:r>
              <a:rPr lang="en-US" b="1" dirty="0" smtClean="0"/>
              <a:t>x</a:t>
            </a:r>
            <a:r>
              <a:rPr lang="en-US" dirty="0" smtClean="0"/>
              <a:t> thuộc lớp ci cho bởi P(ci|x), chính là xác suất hậu nghiệm, phân lớp dựa vào đặc trưng.</a:t>
            </a:r>
          </a:p>
          <a:p>
            <a:pPr marL="0" indent="0">
              <a:buNone/>
            </a:pPr>
            <a:endParaRPr lang="en-US" dirty="0"/>
          </a:p>
        </p:txBody>
      </p:sp>
    </p:spTree>
    <p:extLst>
      <p:ext uri="{BB962C8B-B14F-4D97-AF65-F5344CB8AC3E}">
        <p14:creationId xmlns:p14="http://schemas.microsoft.com/office/powerpoint/2010/main" val="4286001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Ứng dụng Định lý bayes</a:t>
            </a:r>
          </a:p>
        </p:txBody>
      </p:sp>
      <p:sp>
        <p:nvSpPr>
          <p:cNvPr id="3" name="Content Placeholder 2"/>
          <p:cNvSpPr>
            <a:spLocks noGrp="1"/>
          </p:cNvSpPr>
          <p:nvPr>
            <p:ph idx="1"/>
          </p:nvPr>
        </p:nvSpPr>
        <p:spPr/>
        <p:txBody>
          <a:bodyPr>
            <a:normAutofit lnSpcReduction="10000"/>
          </a:bodyPr>
          <a:lstStyle/>
          <a:p>
            <a:r>
              <a:rPr lang="en-US" dirty="0" smtClean="0"/>
              <a:t>Như ta đã biết P(ci|x) = P(x|ci).P(ci) / P(x), trong đó </a:t>
            </a:r>
          </a:p>
          <a:p>
            <a:pPr marL="0" indent="0" algn="ctr">
              <a:buNone/>
            </a:pPr>
            <a:r>
              <a:rPr lang="en-US" dirty="0" smtClean="0"/>
              <a:t>P(x) = tổng P(x|ci).P(ci).</a:t>
            </a:r>
          </a:p>
          <a:p>
            <a:pPr marL="0" indent="0">
              <a:buNone/>
            </a:pPr>
            <a:r>
              <a:rPr lang="en-US" dirty="0" smtClean="0"/>
              <a:t>Mẫu số chỉ có ý nghĩa giúp cho tổng các xác suất là 1, vì thế để so sánh độ lớn, ta quan tâm dạng tỷ lệ P(ci|x) ~ P(x|ci).P(ci).</a:t>
            </a:r>
          </a:p>
          <a:p>
            <a:pPr marL="0" indent="0" algn="just">
              <a:buNone/>
            </a:pPr>
            <a:r>
              <a:rPr lang="en-US" dirty="0" smtClean="0"/>
              <a:t>Một cách cảm tính, ta thấy rằng để phân lớp đúng, ta sẽ chọn ci sao cho P(ci|x) đạt giá trị lớn nhất. Tuy nhiên, cần có các tính toán cẩn thận về khía cạnh toán học.</a:t>
            </a:r>
          </a:p>
        </p:txBody>
      </p:sp>
    </p:spTree>
    <p:extLst>
      <p:ext uri="{BB962C8B-B14F-4D97-AF65-F5344CB8AC3E}">
        <p14:creationId xmlns:p14="http://schemas.microsoft.com/office/powerpoint/2010/main" val="3137941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Lý thuyết ra quyết định bayes</a:t>
            </a:r>
            <a:endParaRPr lang="en-US" dirty="0"/>
          </a:p>
        </p:txBody>
      </p:sp>
      <p:sp>
        <p:nvSpPr>
          <p:cNvPr id="3" name="Content Placeholder 2"/>
          <p:cNvSpPr>
            <a:spLocks noGrp="1"/>
          </p:cNvSpPr>
          <p:nvPr>
            <p:ph idx="1"/>
          </p:nvPr>
        </p:nvSpPr>
        <p:spPr>
          <a:xfrm>
            <a:off x="1141412" y="2249487"/>
            <a:ext cx="10172210" cy="3541714"/>
          </a:xfrm>
        </p:spPr>
        <p:txBody>
          <a:bodyPr/>
          <a:lstStyle/>
          <a:p>
            <a:r>
              <a:rPr lang="en-US" dirty="0" smtClean="0"/>
              <a:t>Nếu chỉ có 2 lớp c1, c2, ta xét </a:t>
            </a:r>
            <a:r>
              <a:rPr lang="en-US" dirty="0" smtClean="0">
                <a:solidFill>
                  <a:srgbClr val="FF0000"/>
                </a:solidFill>
              </a:rPr>
              <a:t>luật 1</a:t>
            </a:r>
            <a:r>
              <a:rPr lang="en-US" dirty="0" smtClean="0"/>
              <a:t>: chọn c1 nếu P(c1|x) &gt; P(c2|x), ngược lại thì chọn c2.</a:t>
            </a:r>
          </a:p>
          <a:p>
            <a:r>
              <a:rPr lang="en-US" dirty="0" smtClean="0"/>
              <a:t>Ta xét xác suất lỗi trung bình: P(error) = tổng P(error|x).P(x) trong đó P(error|x) = P(c1|x) nếu lớp đúng là c2, và = P(c2|x) nếu lớp đúng là c1. Khi đó: P(error|x) = min{P(c1|x), P(c2|x)} nên</a:t>
            </a:r>
          </a:p>
          <a:p>
            <a:pPr marL="0" indent="0" algn="ctr">
              <a:buNone/>
            </a:pPr>
            <a:r>
              <a:rPr lang="en-US" dirty="0" smtClean="0"/>
              <a:t>P(error) = tích phân min{P(c1|x), P(c2|x)}.p(x)</a:t>
            </a:r>
            <a:endParaRPr lang="en-US" dirty="0"/>
          </a:p>
        </p:txBody>
      </p:sp>
    </p:spTree>
    <p:extLst>
      <p:ext uri="{BB962C8B-B14F-4D97-AF65-F5344CB8AC3E}">
        <p14:creationId xmlns:p14="http://schemas.microsoft.com/office/powerpoint/2010/main" val="4223867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Lý thuyết ra quyết định </a:t>
            </a:r>
            <a:r>
              <a:rPr lang="en-US" dirty="0" smtClean="0"/>
              <a:t>bayes (tiếp)</a:t>
            </a:r>
            <a:endParaRPr lang="en-US" dirty="0"/>
          </a:p>
        </p:txBody>
      </p:sp>
      <p:sp>
        <p:nvSpPr>
          <p:cNvPr id="3" name="Content Placeholder 2"/>
          <p:cNvSpPr>
            <a:spLocks noGrp="1"/>
          </p:cNvSpPr>
          <p:nvPr>
            <p:ph idx="1"/>
          </p:nvPr>
        </p:nvSpPr>
        <p:spPr/>
        <p:txBody>
          <a:bodyPr/>
          <a:lstStyle/>
          <a:p>
            <a:pPr algn="just"/>
            <a:r>
              <a:rPr lang="en-US" dirty="0" smtClean="0"/>
              <a:t>Mở rộng: số lớp là c &gt;= 2, còn việc phân loại thì tổng quát thành hành động “a1, a2, ..., ac”.</a:t>
            </a:r>
          </a:p>
          <a:p>
            <a:r>
              <a:rPr lang="en-US" dirty="0" smtClean="0"/>
              <a:t>Ta bổ sung thêm hàm tiêu tốn lamda(ai|cj) cho biết cái giá phải trả khi thực hiện hành động ai trong khi đối tượng thuộc lớp cj.</a:t>
            </a:r>
          </a:p>
          <a:p>
            <a:r>
              <a:rPr lang="en-US" dirty="0" smtClean="0"/>
              <a:t>Rủi ro được tính bởi R(ai|x) = tổng lamda(ai|cj).P(cj|x) với j chạy từ 1 đến c. Như thế ta có </a:t>
            </a:r>
            <a:r>
              <a:rPr lang="en-US" dirty="0" smtClean="0">
                <a:solidFill>
                  <a:srgbClr val="FF0000"/>
                </a:solidFill>
              </a:rPr>
              <a:t>luật 2</a:t>
            </a:r>
            <a:r>
              <a:rPr lang="en-US" dirty="0" smtClean="0"/>
              <a:t>: chọn hành động a(i) để cực tiểu giá trị R(ai|x).</a:t>
            </a:r>
            <a:endParaRPr lang="en-US" dirty="0"/>
          </a:p>
        </p:txBody>
      </p:sp>
    </p:spTree>
    <p:extLst>
      <p:ext uri="{BB962C8B-B14F-4D97-AF65-F5344CB8AC3E}">
        <p14:creationId xmlns:p14="http://schemas.microsoft.com/office/powerpoint/2010/main" val="1953646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Lý thuyết ra quyết định bayes (tiếp)</a:t>
            </a:r>
          </a:p>
        </p:txBody>
      </p:sp>
      <p:sp>
        <p:nvSpPr>
          <p:cNvPr id="3" name="Content Placeholder 2"/>
          <p:cNvSpPr>
            <a:spLocks noGrp="1"/>
          </p:cNvSpPr>
          <p:nvPr>
            <p:ph idx="1"/>
          </p:nvPr>
        </p:nvSpPr>
        <p:spPr/>
        <p:txBody>
          <a:bodyPr/>
          <a:lstStyle/>
          <a:p>
            <a:r>
              <a:rPr lang="en-US" dirty="0" smtClean="0"/>
              <a:t>Để đơn giản, ta có thể xét hàm tiêu tốn đối xứng, tức là:</a:t>
            </a:r>
          </a:p>
          <a:p>
            <a:pPr marL="0" indent="0" algn="ctr">
              <a:buNone/>
            </a:pPr>
            <a:r>
              <a:rPr lang="en-US" dirty="0" smtClean="0"/>
              <a:t>lamda(ai|cj) = 0 nếu i=j và = 1 nếu i khác j.</a:t>
            </a:r>
          </a:p>
          <a:p>
            <a:pPr marL="0" indent="0">
              <a:buNone/>
            </a:pPr>
            <a:r>
              <a:rPr lang="en-US" dirty="0" smtClean="0"/>
              <a:t>Khi đó, ta có R(ai|x) = tổng P(cj|x) (với j khác i) = 1 – P(ci|x).</a:t>
            </a:r>
          </a:p>
          <a:p>
            <a:pPr marL="0" indent="0">
              <a:buNone/>
            </a:pPr>
            <a:r>
              <a:rPr lang="en-US" dirty="0" smtClean="0"/>
              <a:t>Từ đó có </a:t>
            </a:r>
            <a:r>
              <a:rPr lang="en-US" dirty="0" smtClean="0">
                <a:solidFill>
                  <a:srgbClr val="FF0000"/>
                </a:solidFill>
              </a:rPr>
              <a:t>luật 3</a:t>
            </a:r>
            <a:r>
              <a:rPr lang="en-US" dirty="0" smtClean="0"/>
              <a:t>: chọn ci nếu như P(ci|x) đạt giá trị lớn nhất. Đây là tổng quát của luật 1 với số lớp là 2.</a:t>
            </a:r>
          </a:p>
        </p:txBody>
      </p:sp>
    </p:spTree>
    <p:extLst>
      <p:ext uri="{BB962C8B-B14F-4D97-AF65-F5344CB8AC3E}">
        <p14:creationId xmlns:p14="http://schemas.microsoft.com/office/powerpoint/2010/main" val="1129971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a:xfrm>
            <a:off x="1141412" y="2249487"/>
            <a:ext cx="10587846" cy="3541714"/>
          </a:xfrm>
        </p:spPr>
        <p:txBody>
          <a:bodyPr/>
          <a:lstStyle/>
          <a:p>
            <a:r>
              <a:rPr lang="en-US" dirty="0" smtClean="0"/>
              <a:t>Xét hệ phân lớp với 2 lớp c1, c2 có xác suất tiên nghiệm 2/3, 1/3.</a:t>
            </a:r>
          </a:p>
          <a:p>
            <a:pPr algn="just"/>
            <a:r>
              <a:rPr lang="en-US" dirty="0" smtClean="0"/>
              <a:t>Có 3 hành động: a1 = “xếp vào c1”, a2 = “xếp vào c2”, a3 = “không phân lớp”, giá trị của hàm tiêu tốn cho bởi </a:t>
            </a:r>
          </a:p>
          <a:p>
            <a:pPr marL="0" indent="0">
              <a:buNone/>
            </a:pPr>
            <a:endParaRPr lang="en-US" dirty="0"/>
          </a:p>
          <a:p>
            <a:pPr marL="0" indent="0">
              <a:buNone/>
            </a:pPr>
            <a:endParaRPr lang="en-US" dirty="0" smtClean="0"/>
          </a:p>
          <a:p>
            <a:r>
              <a:rPr lang="en-US" dirty="0" smtClean="0"/>
              <a:t>Likelihood P(x|c1) = (2-x)/2 và P(x|c2) = 1/2 , với 0&lt;=x&lt;=2.</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41841973"/>
              </p:ext>
            </p:extLst>
          </p:nvPr>
        </p:nvGraphicFramePr>
        <p:xfrm>
          <a:off x="2030412" y="3767666"/>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83252666"/>
                    </a:ext>
                  </a:extLst>
                </a:gridCol>
                <a:gridCol w="2032000">
                  <a:extLst>
                    <a:ext uri="{9D8B030D-6E8A-4147-A177-3AD203B41FA5}">
                      <a16:colId xmlns:a16="http://schemas.microsoft.com/office/drawing/2014/main" val="3321824964"/>
                    </a:ext>
                  </a:extLst>
                </a:gridCol>
                <a:gridCol w="2032000">
                  <a:extLst>
                    <a:ext uri="{9D8B030D-6E8A-4147-A177-3AD203B41FA5}">
                      <a16:colId xmlns:a16="http://schemas.microsoft.com/office/drawing/2014/main" val="2685240085"/>
                    </a:ext>
                  </a:extLst>
                </a:gridCol>
                <a:gridCol w="2032000">
                  <a:extLst>
                    <a:ext uri="{9D8B030D-6E8A-4147-A177-3AD203B41FA5}">
                      <a16:colId xmlns:a16="http://schemas.microsoft.com/office/drawing/2014/main" val="1872625008"/>
                    </a:ext>
                  </a:extLst>
                </a:gridCol>
              </a:tblGrid>
              <a:tr h="370840">
                <a:tc>
                  <a:txBody>
                    <a:bodyPr/>
                    <a:lstStyle/>
                    <a:p>
                      <a:pPr algn="ctr"/>
                      <a:endParaRPr lang="en-US" dirty="0"/>
                    </a:p>
                  </a:txBody>
                  <a:tcPr/>
                </a:tc>
                <a:tc>
                  <a:txBody>
                    <a:bodyPr/>
                    <a:lstStyle/>
                    <a:p>
                      <a:pPr algn="ctr"/>
                      <a:r>
                        <a:rPr lang="en-US" dirty="0" smtClean="0"/>
                        <a:t>a1</a:t>
                      </a:r>
                      <a:endParaRPr lang="en-US" dirty="0"/>
                    </a:p>
                  </a:txBody>
                  <a:tcPr/>
                </a:tc>
                <a:tc>
                  <a:txBody>
                    <a:bodyPr/>
                    <a:lstStyle/>
                    <a:p>
                      <a:pPr algn="ctr"/>
                      <a:r>
                        <a:rPr lang="en-US" dirty="0" smtClean="0"/>
                        <a:t>a2</a:t>
                      </a:r>
                      <a:endParaRPr lang="en-US" dirty="0"/>
                    </a:p>
                  </a:txBody>
                  <a:tcPr/>
                </a:tc>
                <a:tc>
                  <a:txBody>
                    <a:bodyPr/>
                    <a:lstStyle/>
                    <a:p>
                      <a:pPr algn="ctr"/>
                      <a:r>
                        <a:rPr lang="en-US" dirty="0" smtClean="0"/>
                        <a:t>a3</a:t>
                      </a:r>
                      <a:endParaRPr lang="en-US" dirty="0"/>
                    </a:p>
                  </a:txBody>
                  <a:tcPr/>
                </a:tc>
                <a:extLst>
                  <a:ext uri="{0D108BD9-81ED-4DB2-BD59-A6C34878D82A}">
                    <a16:rowId xmlns:a16="http://schemas.microsoft.com/office/drawing/2014/main" val="1590445599"/>
                  </a:ext>
                </a:extLst>
              </a:tr>
              <a:tr h="370840">
                <a:tc>
                  <a:txBody>
                    <a:bodyPr/>
                    <a:lstStyle/>
                    <a:p>
                      <a:pPr algn="ctr"/>
                      <a:r>
                        <a:rPr lang="en-US" dirty="0" smtClean="0"/>
                        <a:t>c1</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0.25</a:t>
                      </a:r>
                      <a:endParaRPr lang="en-US" dirty="0"/>
                    </a:p>
                  </a:txBody>
                  <a:tcPr/>
                </a:tc>
                <a:extLst>
                  <a:ext uri="{0D108BD9-81ED-4DB2-BD59-A6C34878D82A}">
                    <a16:rowId xmlns:a16="http://schemas.microsoft.com/office/drawing/2014/main" val="3159168679"/>
                  </a:ext>
                </a:extLst>
              </a:tr>
              <a:tr h="370840">
                <a:tc>
                  <a:txBody>
                    <a:bodyPr/>
                    <a:lstStyle/>
                    <a:p>
                      <a:pPr algn="ctr"/>
                      <a:r>
                        <a:rPr lang="en-US" dirty="0" smtClean="0"/>
                        <a:t>c2</a:t>
                      </a:r>
                      <a:endParaRPr lang="en-US" dirty="0"/>
                    </a:p>
                  </a:txBody>
                  <a:tcPr/>
                </a:tc>
                <a:tc>
                  <a:txBody>
                    <a:bodyPr/>
                    <a:lstStyle/>
                    <a:p>
                      <a:pPr algn="ctr"/>
                      <a:r>
                        <a:rPr lang="en-US" dirty="0" smtClean="0"/>
                        <a:t>1</a:t>
                      </a:r>
                      <a:endParaRPr lang="en-US" dirty="0"/>
                    </a:p>
                  </a:txBody>
                  <a:tcPr/>
                </a:tc>
                <a:tc>
                  <a:txBody>
                    <a:bodyPr/>
                    <a:lstStyle/>
                    <a:p>
                      <a:pPr algn="ctr"/>
                      <a:r>
                        <a:rPr lang="en-US" dirty="0" smtClean="0"/>
                        <a:t>0</a:t>
                      </a:r>
                      <a:endParaRPr lang="en-US" dirty="0"/>
                    </a:p>
                  </a:txBody>
                  <a:tcPr/>
                </a:tc>
                <a:tc>
                  <a:txBody>
                    <a:bodyPr/>
                    <a:lstStyle/>
                    <a:p>
                      <a:pPr algn="ctr"/>
                      <a:r>
                        <a:rPr lang="en-US" dirty="0" smtClean="0"/>
                        <a:t>0.25</a:t>
                      </a:r>
                      <a:endParaRPr lang="en-US" dirty="0"/>
                    </a:p>
                  </a:txBody>
                  <a:tcPr/>
                </a:tc>
                <a:extLst>
                  <a:ext uri="{0D108BD9-81ED-4DB2-BD59-A6C34878D82A}">
                    <a16:rowId xmlns:a16="http://schemas.microsoft.com/office/drawing/2014/main" val="3107361800"/>
                  </a:ext>
                </a:extLst>
              </a:tr>
            </a:tbl>
          </a:graphicData>
        </a:graphic>
      </p:graphicFrame>
    </p:spTree>
    <p:extLst>
      <p:ext uri="{BB962C8B-B14F-4D97-AF65-F5344CB8AC3E}">
        <p14:creationId xmlns:p14="http://schemas.microsoft.com/office/powerpoint/2010/main" val="4081509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 (tiếp)</a:t>
            </a:r>
            <a:endParaRPr lang="en-US" dirty="0"/>
          </a:p>
        </p:txBody>
      </p:sp>
      <p:sp>
        <p:nvSpPr>
          <p:cNvPr id="3" name="Content Placeholder 2"/>
          <p:cNvSpPr>
            <a:spLocks noGrp="1"/>
          </p:cNvSpPr>
          <p:nvPr>
            <p:ph idx="1"/>
          </p:nvPr>
        </p:nvSpPr>
        <p:spPr>
          <a:xfrm>
            <a:off x="797283" y="1966452"/>
            <a:ext cx="9905999" cy="3824749"/>
          </a:xfrm>
        </p:spPr>
        <p:txBody>
          <a:bodyPr/>
          <a:lstStyle/>
          <a:p>
            <a:r>
              <a:rPr lang="en-US" dirty="0" smtClean="0"/>
              <a:t>Ta tính được P(x) = 2/3.(2-x)/2+1/2.1/3 = (5-2x)/6.</a:t>
            </a:r>
          </a:p>
          <a:p>
            <a:r>
              <a:rPr lang="en-US" dirty="0" smtClean="0"/>
              <a:t>P(c1|x) = (4-2x)/(5-2x) và P(c2|x) = 1/(5-2x).</a:t>
            </a:r>
          </a:p>
          <a:p>
            <a:r>
              <a:rPr lang="en-US" dirty="0" smtClean="0"/>
              <a:t>Từ đó có </a:t>
            </a:r>
          </a:p>
          <a:p>
            <a:pPr marL="0" indent="0" algn="ctr">
              <a:buNone/>
            </a:pPr>
            <a:r>
              <a:rPr lang="en-US" dirty="0" smtClean="0"/>
              <a:t>R(a1|x) = 1/(5-2x), R(a2|x) = (4-2x)/(5-2x) và R(a3|x) = 1/4.</a:t>
            </a:r>
          </a:p>
          <a:p>
            <a:pPr marL="0" indent="0">
              <a:buNone/>
            </a:pPr>
            <a:r>
              <a:rPr lang="en-US" dirty="0" smtClean="0"/>
              <a:t>Từ đó thay vào rủi ro tổng thể:</a:t>
            </a:r>
          </a:p>
          <a:p>
            <a:pPr marL="0" indent="0">
              <a:buNone/>
            </a:pPr>
            <a:r>
              <a:rPr lang="en-US" dirty="0" smtClean="0"/>
              <a:t>R = tích phân 0 đến 2 của min{R(a1|x), R(a2|x), R(a3|x)}.p(x), ta xác định được R ~ 0.236.</a:t>
            </a:r>
          </a:p>
        </p:txBody>
      </p:sp>
      <p:pic>
        <p:nvPicPr>
          <p:cNvPr id="4" name="Picture 3"/>
          <p:cNvPicPr>
            <a:picLocks noChangeAspect="1"/>
          </p:cNvPicPr>
          <p:nvPr/>
        </p:nvPicPr>
        <p:blipFill>
          <a:blip r:embed="rId2"/>
          <a:stretch>
            <a:fillRect/>
          </a:stretch>
        </p:blipFill>
        <p:spPr>
          <a:xfrm>
            <a:off x="9265007" y="1883325"/>
            <a:ext cx="2876550" cy="1724025"/>
          </a:xfrm>
          <a:prstGeom prst="rect">
            <a:avLst/>
          </a:prstGeom>
        </p:spPr>
      </p:pic>
    </p:spTree>
    <p:extLst>
      <p:ext uri="{BB962C8B-B14F-4D97-AF65-F5344CB8AC3E}">
        <p14:creationId xmlns:p14="http://schemas.microsoft.com/office/powerpoint/2010/main" val="3014355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Phân lớp bằng bi</a:t>
            </a:r>
            <a:r>
              <a:rPr lang="en-US" b="1" dirty="0" smtClean="0"/>
              <a:t>ệ</a:t>
            </a:r>
            <a:r>
              <a:rPr lang="en-US" dirty="0" smtClean="0"/>
              <a:t>t hàm</a:t>
            </a:r>
            <a:endParaRPr lang="en-US" dirty="0"/>
          </a:p>
        </p:txBody>
      </p:sp>
      <p:sp>
        <p:nvSpPr>
          <p:cNvPr id="3" name="Content Placeholder 2"/>
          <p:cNvSpPr>
            <a:spLocks noGrp="1"/>
          </p:cNvSpPr>
          <p:nvPr>
            <p:ph idx="1"/>
          </p:nvPr>
        </p:nvSpPr>
        <p:spPr/>
        <p:txBody>
          <a:bodyPr/>
          <a:lstStyle/>
          <a:p>
            <a:r>
              <a:rPr lang="en-US" dirty="0" smtClean="0"/>
              <a:t>Để linh hoạt hơn trong biểu diễn hệ phân lớp, ta có thể sử dụng biệt hàm (discriminant function) g</a:t>
            </a:r>
            <a:r>
              <a:rPr lang="en-US" baseline="-25000" dirty="0" smtClean="0"/>
              <a:t>i</a:t>
            </a:r>
            <a:r>
              <a:rPr lang="en-US" dirty="0" smtClean="0"/>
              <a:t>(x), trong đó đối tượng có đặc trưng x được phân vào lớp i nếu như </a:t>
            </a:r>
          </a:p>
          <a:p>
            <a:pPr marL="0" indent="0" algn="ctr">
              <a:buNone/>
            </a:pPr>
            <a:r>
              <a:rPr lang="en-US" dirty="0" smtClean="0"/>
              <a:t>g</a:t>
            </a:r>
            <a:r>
              <a:rPr lang="en-US" baseline="-25000" dirty="0" smtClean="0"/>
              <a:t>i</a:t>
            </a:r>
            <a:r>
              <a:rPr lang="en-US" dirty="0" smtClean="0"/>
              <a:t>(x) &gt; g</a:t>
            </a:r>
            <a:r>
              <a:rPr lang="en-US" baseline="-25000" dirty="0" smtClean="0"/>
              <a:t>j</a:t>
            </a:r>
            <a:r>
              <a:rPr lang="en-US" dirty="0" smtClean="0"/>
              <a:t>(x) với mọi j khác i.</a:t>
            </a:r>
          </a:p>
          <a:p>
            <a:pPr marL="0" indent="0">
              <a:buNone/>
            </a:pPr>
            <a:r>
              <a:rPr lang="en-US" dirty="0" smtClean="0"/>
              <a:t>Như trên, theo luật 1 &amp; 3, dùng xác suất lỗi trung bình, chọn g</a:t>
            </a:r>
            <a:r>
              <a:rPr lang="en-US" baseline="-25000" dirty="0" smtClean="0"/>
              <a:t>i</a:t>
            </a:r>
            <a:r>
              <a:rPr lang="en-US" dirty="0" smtClean="0"/>
              <a:t>(x) = P(ci|x), còn theo luật 2, ta dùng rủi ro toàn bộ </a:t>
            </a:r>
            <a:r>
              <a:rPr lang="en-US" dirty="0"/>
              <a:t>g</a:t>
            </a:r>
            <a:r>
              <a:rPr lang="en-US" baseline="-25000" dirty="0"/>
              <a:t>i</a:t>
            </a:r>
            <a:r>
              <a:rPr lang="en-US" dirty="0"/>
              <a:t>(x) = </a:t>
            </a:r>
            <a:r>
              <a:rPr lang="en-US" dirty="0" smtClean="0"/>
              <a:t>- R(ai|x).</a:t>
            </a:r>
          </a:p>
        </p:txBody>
      </p:sp>
    </p:spTree>
    <p:extLst>
      <p:ext uri="{BB962C8B-B14F-4D97-AF65-F5344CB8AC3E}">
        <p14:creationId xmlns:p14="http://schemas.microsoft.com/office/powerpoint/2010/main" val="2259399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Phân lớp bằng bi</a:t>
            </a:r>
            <a:r>
              <a:rPr lang="en-US" b="1" dirty="0"/>
              <a:t>ệ</a:t>
            </a:r>
            <a:r>
              <a:rPr lang="en-US" dirty="0"/>
              <a:t>t </a:t>
            </a:r>
            <a:r>
              <a:rPr lang="en-US" dirty="0" smtClean="0"/>
              <a:t>hàm (tiếp)</a:t>
            </a:r>
            <a:endParaRPr lang="en-US" dirty="0"/>
          </a:p>
        </p:txBody>
      </p:sp>
      <p:sp>
        <p:nvSpPr>
          <p:cNvPr id="3" name="Content Placeholder 2"/>
          <p:cNvSpPr>
            <a:spLocks noGrp="1"/>
          </p:cNvSpPr>
          <p:nvPr>
            <p:ph idx="1"/>
          </p:nvPr>
        </p:nvSpPr>
        <p:spPr/>
        <p:txBody>
          <a:bodyPr/>
          <a:lstStyle/>
          <a:p>
            <a:r>
              <a:rPr lang="en-US" dirty="0" smtClean="0"/>
              <a:t>Từ một bộ biệt hàm g</a:t>
            </a:r>
            <a:r>
              <a:rPr lang="en-US" baseline="-25000" dirty="0" smtClean="0"/>
              <a:t>i</a:t>
            </a:r>
            <a:r>
              <a:rPr lang="en-US" dirty="0" smtClean="0"/>
              <a:t>(x), ta có thể xây dựng bộ mới bằng cách xét hàm hợp f(g</a:t>
            </a:r>
            <a:r>
              <a:rPr lang="en-US" baseline="-25000" dirty="0" smtClean="0"/>
              <a:t>i</a:t>
            </a:r>
            <a:r>
              <a:rPr lang="en-US" dirty="0" smtClean="0"/>
              <a:t>(x)) với f là hàm đơn điệu tăng, chẳng hạn nhân cho hằng số dương hoặc lấy log.</a:t>
            </a:r>
          </a:p>
          <a:p>
            <a:r>
              <a:rPr lang="en-US" dirty="0" smtClean="0"/>
              <a:t>VD: g</a:t>
            </a:r>
            <a:r>
              <a:rPr lang="en-US" baseline="-25000" dirty="0" smtClean="0"/>
              <a:t>i</a:t>
            </a:r>
            <a:r>
              <a:rPr lang="en-US" dirty="0" smtClean="0"/>
              <a:t>(x) = P(c</a:t>
            </a:r>
            <a:r>
              <a:rPr lang="en-US" baseline="-25000" dirty="0" smtClean="0"/>
              <a:t>i</a:t>
            </a:r>
            <a:r>
              <a:rPr lang="en-US" dirty="0" smtClean="0"/>
              <a:t>|x) -&gt; P(x|ci).P(ci),</a:t>
            </a:r>
          </a:p>
          <a:p>
            <a:pPr marL="0" indent="0">
              <a:buNone/>
            </a:pPr>
            <a:r>
              <a:rPr lang="en-US" dirty="0" smtClean="0"/>
              <a:t>hoặc g</a:t>
            </a:r>
            <a:r>
              <a:rPr lang="en-US" baseline="-25000" dirty="0" smtClean="0"/>
              <a:t>i</a:t>
            </a:r>
            <a:r>
              <a:rPr lang="en-US" dirty="0" smtClean="0"/>
              <a:t>(x) = ln P(x|c</a:t>
            </a:r>
            <a:r>
              <a:rPr lang="en-US" baseline="-25000" dirty="0" smtClean="0"/>
              <a:t>i</a:t>
            </a:r>
            <a:r>
              <a:rPr lang="en-US" dirty="0" smtClean="0"/>
              <a:t>) + ln P(c</a:t>
            </a:r>
            <a:r>
              <a:rPr lang="en-US" baseline="-25000" dirty="0" smtClean="0"/>
              <a:t>i</a:t>
            </a:r>
            <a:r>
              <a:rPr lang="en-US" dirty="0" smtClean="0"/>
              <a:t>).</a:t>
            </a:r>
          </a:p>
          <a:p>
            <a:pPr marL="0" indent="0">
              <a:buNone/>
            </a:pPr>
            <a:r>
              <a:rPr lang="en-US" dirty="0" smtClean="0"/>
              <a:t>Chú ý rằng ở công thức sau thì việc tính toán sẽ đơn giản hơn.</a:t>
            </a:r>
          </a:p>
        </p:txBody>
      </p:sp>
    </p:spTree>
    <p:extLst>
      <p:ext uri="{BB962C8B-B14F-4D97-AF65-F5344CB8AC3E}">
        <p14:creationId xmlns:p14="http://schemas.microsoft.com/office/powerpoint/2010/main" val="313814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VÙNG RA QUYẾT ĐỊNH</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6917" y="2375746"/>
            <a:ext cx="4932809" cy="2982836"/>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5430" y="2375746"/>
            <a:ext cx="3832737" cy="2966908"/>
          </a:xfrm>
          <a:prstGeom prst="rect">
            <a:avLst/>
          </a:prstGeom>
        </p:spPr>
      </p:pic>
    </p:spTree>
    <p:extLst>
      <p:ext uri="{BB962C8B-B14F-4D97-AF65-F5344CB8AC3E}">
        <p14:creationId xmlns:p14="http://schemas.microsoft.com/office/powerpoint/2010/main" val="4010317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Phân phối chuẩn đơn-đa biến</a:t>
            </a:r>
            <a:endParaRPr lang="en-US" dirty="0"/>
          </a:p>
        </p:txBody>
      </p:sp>
      <p:sp>
        <p:nvSpPr>
          <p:cNvPr id="3" name="Content Placeholder 2"/>
          <p:cNvSpPr>
            <a:spLocks noGrp="1"/>
          </p:cNvSpPr>
          <p:nvPr>
            <p:ph idx="1"/>
          </p:nvPr>
        </p:nvSpPr>
        <p:spPr/>
        <p:txBody>
          <a:bodyPr>
            <a:normAutofit lnSpcReduction="10000"/>
          </a:bodyPr>
          <a:lstStyle/>
          <a:p>
            <a:r>
              <a:rPr lang="en-US" dirty="0" smtClean="0"/>
              <a:t>Phân phối chuẩn đơn biến (univariate): dạng thông thường.</a:t>
            </a:r>
          </a:p>
          <a:p>
            <a:r>
              <a:rPr lang="en-US" dirty="0" smtClean="0"/>
              <a:t>Phân phối chuẩn đa biến (multivariate): tổng quát cho không gian d chiều, hàm phân phối sẽ có dạng</a:t>
            </a:r>
          </a:p>
          <a:p>
            <a:endParaRPr lang="en-US" dirty="0"/>
          </a:p>
          <a:p>
            <a:endParaRPr lang="en-US" dirty="0" smtClean="0"/>
          </a:p>
          <a:p>
            <a:pPr marL="0" indent="0">
              <a:buNone/>
            </a:pPr>
            <a:r>
              <a:rPr lang="en-US" dirty="0" smtClean="0"/>
              <a:t>trong đó x là vector d chiều, </a:t>
            </a:r>
            <a:r>
              <a:rPr lang="en-US" dirty="0" smtClean="0">
                <a:sym typeface="Mathematica1" panose="05000502060100000001" pitchFamily="2" charset="2"/>
              </a:rPr>
              <a:t> là vector kỳ vọng của x, còn  là ma trận d</a:t>
            </a:r>
            <a:r>
              <a:rPr lang="en-US" baseline="30000" dirty="0" smtClean="0">
                <a:sym typeface="Mathematica1" panose="05000502060100000001" pitchFamily="2" charset="2"/>
              </a:rPr>
              <a:t>2</a:t>
            </a:r>
            <a:r>
              <a:rPr lang="en-US" dirty="0" smtClean="0">
                <a:sym typeface="Mathematica1" panose="05000502060100000001" pitchFamily="2" charset="2"/>
              </a:rPr>
              <a:t> hiệp phương sai (giá trị này đại diện cho phương sai).</a:t>
            </a:r>
            <a:endParaRPr lang="en-US" dirty="0" smtClean="0"/>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373741563"/>
              </p:ext>
            </p:extLst>
          </p:nvPr>
        </p:nvGraphicFramePr>
        <p:xfrm>
          <a:off x="3049212" y="3718733"/>
          <a:ext cx="6330950" cy="1058863"/>
        </p:xfrm>
        <a:graphic>
          <a:graphicData uri="http://schemas.openxmlformats.org/presentationml/2006/ole">
            <mc:AlternateContent xmlns:mc="http://schemas.openxmlformats.org/markup-compatibility/2006">
              <mc:Choice xmlns:v="urn:schemas-microsoft-com:vml" Requires="v">
                <p:oleObj spid="_x0000_s1042" name="Equation" r:id="rId3" imgW="2882880" imgH="482400" progId="Equation.DSMT4">
                  <p:embed/>
                </p:oleObj>
              </mc:Choice>
              <mc:Fallback>
                <p:oleObj name="Equation" r:id="rId3" imgW="2882880" imgH="482400" progId="Equation.DSMT4">
                  <p:embed/>
                  <p:pic>
                    <p:nvPicPr>
                      <p:cNvPr id="0" name=""/>
                      <p:cNvPicPr/>
                      <p:nvPr/>
                    </p:nvPicPr>
                    <p:blipFill>
                      <a:blip r:embed="rId4"/>
                      <a:stretch>
                        <a:fillRect/>
                      </a:stretch>
                    </p:blipFill>
                    <p:spPr>
                      <a:xfrm>
                        <a:off x="3049212" y="3718733"/>
                        <a:ext cx="6330950" cy="1058863"/>
                      </a:xfrm>
                      <a:prstGeom prst="rect">
                        <a:avLst/>
                      </a:prstGeom>
                    </p:spPr>
                  </p:pic>
                </p:oleObj>
              </mc:Fallback>
            </mc:AlternateContent>
          </a:graphicData>
        </a:graphic>
      </p:graphicFrame>
    </p:spTree>
    <p:extLst>
      <p:ext uri="{BB962C8B-B14F-4D97-AF65-F5344CB8AC3E}">
        <p14:creationId xmlns:p14="http://schemas.microsoft.com/office/powerpoint/2010/main" val="2114492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a:t>
            </a:r>
            <a:r>
              <a:rPr lang="en-US" b="1" dirty="0" smtClean="0"/>
              <a:t>Ệ</a:t>
            </a:r>
            <a:r>
              <a:rPr lang="en-US" dirty="0" smtClean="0"/>
              <a:t>T HÀM CHO PHÂN PHỐI CHUẨN</a:t>
            </a:r>
            <a:endParaRPr lang="en-US" dirty="0"/>
          </a:p>
        </p:txBody>
      </p:sp>
      <p:sp>
        <p:nvSpPr>
          <p:cNvPr id="3" name="Content Placeholder 2"/>
          <p:cNvSpPr>
            <a:spLocks noGrp="1"/>
          </p:cNvSpPr>
          <p:nvPr>
            <p:ph idx="1"/>
          </p:nvPr>
        </p:nvSpPr>
        <p:spPr/>
        <p:txBody>
          <a:bodyPr/>
          <a:lstStyle/>
          <a:p>
            <a:r>
              <a:rPr lang="en-US" dirty="0" smtClean="0"/>
              <a:t>Bây giờ đặt ra giả thiết P(x|ci) ~ N(</a:t>
            </a:r>
            <a:r>
              <a:rPr lang="en-US" dirty="0" smtClean="0">
                <a:sym typeface="Mathematica1" panose="05000502060100000001" pitchFamily="2" charset="2"/>
              </a:rPr>
              <a:t></a:t>
            </a:r>
            <a:r>
              <a:rPr lang="en-US" baseline="-25000" dirty="0" smtClean="0">
                <a:sym typeface="Mathematica1" panose="05000502060100000001" pitchFamily="2" charset="2"/>
              </a:rPr>
              <a:t>i</a:t>
            </a:r>
            <a:r>
              <a:rPr lang="en-US" dirty="0" smtClean="0">
                <a:sym typeface="Mathematica1" panose="05000502060100000001" pitchFamily="2" charset="2"/>
              </a:rPr>
              <a:t>,</a:t>
            </a:r>
            <a:r>
              <a:rPr lang="en-US" baseline="-25000" dirty="0" smtClean="0">
                <a:sym typeface="Mathematica1" panose="05000502060100000001" pitchFamily="2" charset="2"/>
              </a:rPr>
              <a:t>i</a:t>
            </a:r>
            <a:r>
              <a:rPr lang="en-US" baseline="30000" dirty="0" smtClean="0">
                <a:sym typeface="Mathematica1" panose="05000502060100000001" pitchFamily="2" charset="2"/>
              </a:rPr>
              <a:t>2</a:t>
            </a:r>
            <a:r>
              <a:rPr lang="en-US" dirty="0" smtClean="0">
                <a:sym typeface="Mathematica1" panose="05000502060100000001" pitchFamily="2" charset="2"/>
              </a:rPr>
              <a:t>) là phân phối chuẩn. Sử dụng biệt hàm gi(x) = ln P(x|ci) + ln P(ci), ta có công thức</a:t>
            </a:r>
          </a:p>
          <a:p>
            <a:endParaRPr lang="en-US" dirty="0">
              <a:sym typeface="Mathematica1" panose="05000502060100000001" pitchFamily="2" charset="2"/>
            </a:endParaRPr>
          </a:p>
          <a:p>
            <a:endParaRPr lang="en-US" dirty="0" smtClean="0">
              <a:sym typeface="Mathematica1" panose="05000502060100000001" pitchFamily="2" charset="2"/>
            </a:endParaRPr>
          </a:p>
          <a:p>
            <a:pPr marL="0" indent="0">
              <a:buNone/>
            </a:pPr>
            <a:r>
              <a:rPr lang="en-US" dirty="0" smtClean="0">
                <a:sym typeface="Mathematica1" panose="05000502060100000001" pitchFamily="2" charset="2"/>
              </a:rPr>
              <a:t>Ta thường xét hiệp phương sai ở dạng đặc biệt để có các suy luận biến đổi đơn giản cho biệt hàm trên.</a:t>
            </a:r>
          </a:p>
          <a:p>
            <a:pPr marL="0" indent="0">
              <a:buNone/>
            </a:pPr>
            <a:endParaRPr lang="en-US" dirty="0" smtClean="0">
              <a:sym typeface="Mathematica1" panose="05000502060100000001" pitchFamily="2" charset="2"/>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171884811"/>
              </p:ext>
            </p:extLst>
          </p:nvPr>
        </p:nvGraphicFramePr>
        <p:xfrm>
          <a:off x="2419297" y="3292167"/>
          <a:ext cx="7893068" cy="1024194"/>
        </p:xfrm>
        <a:graphic>
          <a:graphicData uri="http://schemas.openxmlformats.org/presentationml/2006/ole">
            <mc:AlternateContent xmlns:mc="http://schemas.openxmlformats.org/markup-compatibility/2006">
              <mc:Choice xmlns:v="urn:schemas-microsoft-com:vml" Requires="v">
                <p:oleObj spid="_x0000_s2064" name="Equation" r:id="rId3" imgW="3530520" imgH="457200" progId="Equation.DSMT4">
                  <p:embed/>
                </p:oleObj>
              </mc:Choice>
              <mc:Fallback>
                <p:oleObj name="Equation" r:id="rId3" imgW="3530520" imgH="457200" progId="Equation.DSMT4">
                  <p:embed/>
                  <p:pic>
                    <p:nvPicPr>
                      <p:cNvPr id="0" name=""/>
                      <p:cNvPicPr/>
                      <p:nvPr/>
                    </p:nvPicPr>
                    <p:blipFill>
                      <a:blip r:embed="rId4"/>
                      <a:stretch>
                        <a:fillRect/>
                      </a:stretch>
                    </p:blipFill>
                    <p:spPr>
                      <a:xfrm>
                        <a:off x="2419297" y="3292167"/>
                        <a:ext cx="7893068" cy="1024194"/>
                      </a:xfrm>
                      <a:prstGeom prst="rect">
                        <a:avLst/>
                      </a:prstGeom>
                    </p:spPr>
                  </p:pic>
                </p:oleObj>
              </mc:Fallback>
            </mc:AlternateContent>
          </a:graphicData>
        </a:graphic>
      </p:graphicFrame>
    </p:spTree>
    <p:extLst>
      <p:ext uri="{BB962C8B-B14F-4D97-AF65-F5344CB8AC3E}">
        <p14:creationId xmlns:p14="http://schemas.microsoft.com/office/powerpoint/2010/main" val="202583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trường hợp</a:t>
            </a:r>
            <a:endParaRPr lang="en-US" dirty="0"/>
          </a:p>
        </p:txBody>
      </p:sp>
      <p:sp>
        <p:nvSpPr>
          <p:cNvPr id="3" name="Content Placeholder 2"/>
          <p:cNvSpPr>
            <a:spLocks noGrp="1"/>
          </p:cNvSpPr>
          <p:nvPr>
            <p:ph idx="1"/>
          </p:nvPr>
        </p:nvSpPr>
        <p:spPr/>
        <p:txBody>
          <a:bodyPr>
            <a:normAutofit lnSpcReduction="10000"/>
          </a:bodyPr>
          <a:lstStyle/>
          <a:p>
            <a:r>
              <a:rPr lang="en-US" dirty="0" smtClean="0"/>
              <a:t>Để đơn giản hóa biệt hàm, ta sẽ loại các đại lượng là hằng số, bình đẳng đối với các ci.</a:t>
            </a:r>
          </a:p>
          <a:p>
            <a:r>
              <a:rPr lang="en-US" dirty="0" smtClean="0"/>
              <a:t>Trường hợp 1: </a:t>
            </a:r>
            <a:r>
              <a:rPr lang="en-US" dirty="0" smtClean="0">
                <a:sym typeface="Mathematica1" panose="05000502060100000001" pitchFamily="2" charset="2"/>
              </a:rPr>
              <a:t></a:t>
            </a:r>
            <a:r>
              <a:rPr lang="en-US" baseline="-25000" dirty="0" smtClean="0">
                <a:sym typeface="Mathematica1" panose="05000502060100000001" pitchFamily="2" charset="2"/>
              </a:rPr>
              <a:t>i</a:t>
            </a:r>
            <a:r>
              <a:rPr lang="en-US" dirty="0" smtClean="0">
                <a:sym typeface="Mathematica1" panose="05000502060100000001" pitchFamily="2" charset="2"/>
              </a:rPr>
              <a:t> = </a:t>
            </a:r>
            <a:r>
              <a:rPr lang="en-US" baseline="30000" dirty="0" smtClean="0">
                <a:sym typeface="Mathematica1" panose="05000502060100000001" pitchFamily="2" charset="2"/>
              </a:rPr>
              <a:t>2</a:t>
            </a:r>
            <a:r>
              <a:rPr lang="en-US" dirty="0" smtClean="0">
                <a:sym typeface="Mathematica1" panose="05000502060100000001" pitchFamily="2" charset="2"/>
              </a:rPr>
              <a:t>I, nghĩa là các đặc trưng đơn độc lập nhau về mặt thống kê nhưng lại có cùng phương sai.</a:t>
            </a:r>
          </a:p>
          <a:p>
            <a:r>
              <a:rPr lang="en-US" dirty="0" smtClean="0">
                <a:sym typeface="Mathematica1" panose="05000502060100000001" pitchFamily="2" charset="2"/>
              </a:rPr>
              <a:t>Trường hợp 2: </a:t>
            </a:r>
            <a:r>
              <a:rPr lang="en-US" dirty="0">
                <a:sym typeface="Mathematica1" panose="05000502060100000001" pitchFamily="2" charset="2"/>
              </a:rPr>
              <a:t></a:t>
            </a:r>
            <a:r>
              <a:rPr lang="en-US" baseline="-25000" dirty="0">
                <a:sym typeface="Mathematica1" panose="05000502060100000001" pitchFamily="2" charset="2"/>
              </a:rPr>
              <a:t>i</a:t>
            </a:r>
            <a:r>
              <a:rPr lang="en-US" dirty="0">
                <a:sym typeface="Mathematica1" panose="05000502060100000001" pitchFamily="2" charset="2"/>
              </a:rPr>
              <a:t> = </a:t>
            </a:r>
            <a:r>
              <a:rPr lang="en-US" dirty="0" smtClean="0">
                <a:sym typeface="Mathematica1" panose="05000502060100000001" pitchFamily="2" charset="2"/>
              </a:rPr>
              <a:t>, nghĩa là tất cả các ma trận hiệp phương sai đều như nhau.</a:t>
            </a:r>
          </a:p>
          <a:p>
            <a:pPr marL="0" indent="0">
              <a:buNone/>
            </a:pPr>
            <a:r>
              <a:rPr lang="en-US" dirty="0" smtClean="0">
                <a:sym typeface="Mathematica1" panose="05000502060100000001" pitchFamily="2" charset="2"/>
              </a:rPr>
              <a:t>Ta biến đổi đơn giản hóa được biệt hàm ở 2 trường hợp trên.</a:t>
            </a:r>
          </a:p>
          <a:p>
            <a:endParaRPr lang="en-US" dirty="0"/>
          </a:p>
        </p:txBody>
      </p:sp>
    </p:spTree>
    <p:extLst>
      <p:ext uri="{BB962C8B-B14F-4D97-AF65-F5344CB8AC3E}">
        <p14:creationId xmlns:p14="http://schemas.microsoft.com/office/powerpoint/2010/main" val="1925603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vấn đề mở rộng</a:t>
            </a:r>
            <a:endParaRPr lang="en-US" dirty="0"/>
          </a:p>
        </p:txBody>
      </p:sp>
      <p:sp>
        <p:nvSpPr>
          <p:cNvPr id="3" name="Content Placeholder 2"/>
          <p:cNvSpPr>
            <a:spLocks noGrp="1"/>
          </p:cNvSpPr>
          <p:nvPr>
            <p:ph idx="1"/>
          </p:nvPr>
        </p:nvSpPr>
        <p:spPr/>
        <p:txBody>
          <a:bodyPr/>
          <a:lstStyle/>
          <a:p>
            <a:r>
              <a:rPr lang="en-US" dirty="0" smtClean="0"/>
              <a:t>Lý thuyết ra quyết định cho đặc trưng rời rạc.</a:t>
            </a:r>
          </a:p>
          <a:p>
            <a:r>
              <a:rPr lang="en-US" dirty="0" smtClean="0"/>
              <a:t>Đặc trưng bị thiếu.</a:t>
            </a:r>
          </a:p>
          <a:p>
            <a:r>
              <a:rPr lang="en-US" dirty="0" smtClean="0"/>
              <a:t>Đặc trưng bị biến dạng bởi nhiễu.</a:t>
            </a:r>
          </a:p>
          <a:p>
            <a:r>
              <a:rPr lang="en-US" dirty="0" smtClean="0"/>
              <a:t>Lý thuyết ra quyết định kết hợp ngữ cảnh.</a:t>
            </a:r>
          </a:p>
          <a:p>
            <a:r>
              <a:rPr lang="en-US" dirty="0" smtClean="0"/>
              <a:t>Maximum likelihood và ước lượng Bayes.</a:t>
            </a:r>
            <a:endParaRPr lang="en-US" dirty="0"/>
          </a:p>
        </p:txBody>
      </p:sp>
    </p:spTree>
    <p:extLst>
      <p:ext uri="{BB962C8B-B14F-4D97-AF65-F5344CB8AC3E}">
        <p14:creationId xmlns:p14="http://schemas.microsoft.com/office/powerpoint/2010/main" val="3182465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2823</TotalTime>
  <Words>1310</Words>
  <Application>Microsoft Office PowerPoint</Application>
  <PresentationFormat>Widescreen</PresentationFormat>
  <Paragraphs>86</Paragraphs>
  <Slides>16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16</vt:i4>
      </vt:variant>
    </vt:vector>
  </HeadingPairs>
  <TitlesOfParts>
    <vt:vector size="24" baseType="lpstr">
      <vt:lpstr>Arial</vt:lpstr>
      <vt:lpstr>Mathematica1</vt:lpstr>
      <vt:lpstr>Trebuchet MS</vt:lpstr>
      <vt:lpstr>Tw Cen MT</vt:lpstr>
      <vt:lpstr>UVN Saigon</vt:lpstr>
      <vt:lpstr>Circuit</vt:lpstr>
      <vt:lpstr>Equation</vt:lpstr>
      <vt:lpstr>MathType 6.0 Equation</vt:lpstr>
      <vt:lpstr>Phân lớp mẫu</vt:lpstr>
      <vt:lpstr>Bài toán Phân lớp mẫu</vt:lpstr>
      <vt:lpstr>Ứng dụng Định lý bayes</vt:lpstr>
      <vt:lpstr>Ứng dụng Định lý bayes</vt:lpstr>
      <vt:lpstr>Lý thuyết ra quyết định bayes</vt:lpstr>
      <vt:lpstr>Lý thuyết ra quyết định bayes (tiếp)</vt:lpstr>
      <vt:lpstr>Lý thuyết ra quyết định bayes (tiếp)</vt:lpstr>
      <vt:lpstr>Ví dụ</vt:lpstr>
      <vt:lpstr>Ví dụ (tiếp)</vt:lpstr>
      <vt:lpstr>Phân lớp bằng biệt hàm</vt:lpstr>
      <vt:lpstr>Phân lớp bằng biệt hàm (tiếp)</vt:lpstr>
      <vt:lpstr>VÙNG RA QUYẾT ĐỊNH</vt:lpstr>
      <vt:lpstr>Phân phối chuẩn đơn-đa biến</vt:lpstr>
      <vt:lpstr>BIỆT HÀM CHO PHÂN PHỐI CHUẨN</vt:lpstr>
      <vt:lpstr>Các trường hợp</vt:lpstr>
      <vt:lpstr>Các vấn đề mở rộng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VỀ BAYESIAN ANALYSIS</dc:title>
  <dc:creator>Lữ Lê Phúc</dc:creator>
  <cp:lastModifiedBy>Lữ Lê Phúc</cp:lastModifiedBy>
  <cp:revision>268</cp:revision>
  <dcterms:created xsi:type="dcterms:W3CDTF">2022-08-11T15:14:01Z</dcterms:created>
  <dcterms:modified xsi:type="dcterms:W3CDTF">2022-10-26T00:13:12Z</dcterms:modified>
</cp:coreProperties>
</file>