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sldIdLst>
    <p:sldId id="256" r:id="rId2"/>
    <p:sldId id="259" r:id="rId3"/>
    <p:sldId id="260" r:id="rId4"/>
    <p:sldId id="261" r:id="rId5"/>
    <p:sldId id="262" r:id="rId6"/>
    <p:sldId id="263" r:id="rId7"/>
    <p:sldId id="264" r:id="rId8"/>
    <p:sldId id="265" r:id="rId9"/>
    <p:sldId id="266" r:id="rId10"/>
    <p:sldId id="267" r:id="rId11"/>
    <p:sldId id="271" r:id="rId12"/>
    <p:sldId id="268" r:id="rId13"/>
    <p:sldId id="269" r:id="rId14"/>
    <p:sldId id="270"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D08330C-B4E0-4A55-83BD-FE8DA70D9D87}">
          <p14:sldIdLst>
            <p14:sldId id="256"/>
            <p14:sldId id="259"/>
            <p14:sldId id="260"/>
            <p14:sldId id="261"/>
            <p14:sldId id="262"/>
            <p14:sldId id="263"/>
            <p14:sldId id="264"/>
            <p14:sldId id="265"/>
            <p14:sldId id="266"/>
            <p14:sldId id="267"/>
            <p14:sldId id="271"/>
            <p14:sldId id="268"/>
            <p14:sldId id="269"/>
            <p14:sldId id="270"/>
            <p14:sldId id="272"/>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7" d="100"/>
          <a:sy n="77" d="100"/>
        </p:scale>
        <p:origin x="1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B005785-1C94-4EA9-B929-2CCD955333F7}" type="datetimeFigureOut">
              <a:rPr lang="en-US" smtClean="0"/>
              <a:t>6/10/2022</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208130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407610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005785-1C94-4EA9-B929-2CCD955333F7}" type="datetimeFigureOut">
              <a:rPr lang="en-US" smtClean="0"/>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028937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005785-1C94-4EA9-B929-2CCD955333F7}" type="datetimeFigureOut">
              <a:rPr lang="en-US" smtClean="0"/>
              <a:t>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75570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005785-1C94-4EA9-B929-2CCD955333F7}" type="datetimeFigureOut">
              <a:rPr lang="en-US" smtClean="0"/>
              <a:t>6/10/2022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898765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005785-1C94-4EA9-B929-2CCD955333F7}" type="datetimeFigureOut">
              <a:rPr lang="en-US" smtClean="0"/>
              <a:t>6/10/2022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400976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005785-1C94-4EA9-B929-2CCD955333F7}" type="datetimeFigureOut">
              <a:rPr lang="en-US" smtClean="0"/>
              <a:t>6/10/2022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567235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81148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6/10/2022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96836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355980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779487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856778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005785-1C94-4EA9-B929-2CCD955333F7}" type="datetimeFigureOut">
              <a:rPr lang="en-US" smtClean="0"/>
              <a:t>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830713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B005785-1C94-4EA9-B929-2CCD955333F7}" type="datetimeFigureOut">
              <a:rPr lang="en-US" smtClean="0"/>
              <a:t>6/10/2022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2342599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B005785-1C94-4EA9-B929-2CCD955333F7}" type="datetimeFigureOut">
              <a:rPr lang="en-US" smtClean="0"/>
              <a:t>6/10/2022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1712938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839803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005785-1C94-4EA9-B929-2CCD955333F7}" type="datetimeFigureOut">
              <a:rPr lang="en-US" smtClean="0"/>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BFB1E8-4A6F-4D0D-9F94-8F8A42A69B09}" type="slidenum">
              <a:rPr lang="en-US" smtClean="0"/>
              <a:t>‹#›</a:t>
            </a:fld>
            <a:endParaRPr lang="en-US"/>
          </a:p>
        </p:txBody>
      </p:sp>
    </p:spTree>
    <p:extLst>
      <p:ext uri="{BB962C8B-B14F-4D97-AF65-F5344CB8AC3E}">
        <p14:creationId xmlns:p14="http://schemas.microsoft.com/office/powerpoint/2010/main" val="3199971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B005785-1C94-4EA9-B929-2CCD955333F7}" type="datetimeFigureOut">
              <a:rPr lang="en-US" smtClean="0"/>
              <a:t>6/10/2022</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ABFB1E8-4A6F-4D0D-9F94-8F8A42A69B09}" type="slidenum">
              <a:rPr lang="en-US" smtClean="0"/>
              <a:t>‹#›</a:t>
            </a:fld>
            <a:endParaRPr lang="en-US"/>
          </a:p>
        </p:txBody>
      </p:sp>
    </p:spTree>
    <p:extLst>
      <p:ext uri="{BB962C8B-B14F-4D97-AF65-F5344CB8AC3E}">
        <p14:creationId xmlns:p14="http://schemas.microsoft.com/office/powerpoint/2010/main" val="1128980200"/>
      </p:ext>
    </p:extLst>
  </p:cSld>
  <p:clrMap bg1="dk1" tx1="lt1" bg2="dk2" tx2="lt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3" y="1122363"/>
            <a:ext cx="9561889" cy="2387600"/>
          </a:xfrm>
        </p:spPr>
        <p:txBody>
          <a:bodyPr>
            <a:normAutofit/>
          </a:bodyPr>
          <a:lstStyle/>
          <a:p>
            <a:r>
              <a:rPr lang="en-US" b="1" dirty="0" smtClean="0">
                <a:latin typeface="UVN Saigon" panose="00000400000000000000" pitchFamily="2" charset="0"/>
              </a:rPr>
              <a:t>Đánh giá kiểm định </a:t>
            </a:r>
            <a:br>
              <a:rPr lang="en-US" b="1" dirty="0" smtClean="0">
                <a:latin typeface="UVN Saigon" panose="00000400000000000000" pitchFamily="2" charset="0"/>
              </a:rPr>
            </a:br>
            <a:r>
              <a:rPr lang="en-US" b="1" dirty="0">
                <a:latin typeface="UVN Saigon" panose="00000400000000000000" pitchFamily="2" charset="0"/>
              </a:rPr>
              <a:t>&amp;</a:t>
            </a:r>
            <a:r>
              <a:rPr lang="en-US" b="1" dirty="0" smtClean="0">
                <a:latin typeface="UVN Saigon" panose="00000400000000000000" pitchFamily="2" charset="0"/>
              </a:rPr>
              <a:t/>
            </a:r>
            <a:br>
              <a:rPr lang="en-US" b="1" dirty="0" smtClean="0">
                <a:latin typeface="UVN Saigon" panose="00000400000000000000" pitchFamily="2" charset="0"/>
              </a:rPr>
            </a:br>
            <a:r>
              <a:rPr lang="en-US" b="1" dirty="0" smtClean="0">
                <a:latin typeface="UVN Saigon" panose="00000400000000000000" pitchFamily="2" charset="0"/>
              </a:rPr>
              <a:t>liên hợp hỗn hợp</a:t>
            </a:r>
            <a:endParaRPr lang="en-US" b="1" dirty="0">
              <a:latin typeface="UVN Saigon" panose="00000400000000000000" pitchFamily="2" charset="0"/>
            </a:endParaRPr>
          </a:p>
        </p:txBody>
      </p:sp>
      <p:sp>
        <p:nvSpPr>
          <p:cNvPr id="3" name="Subtitle 2"/>
          <p:cNvSpPr>
            <a:spLocks noGrp="1"/>
          </p:cNvSpPr>
          <p:nvPr>
            <p:ph type="subTitle" idx="1"/>
          </p:nvPr>
        </p:nvSpPr>
        <p:spPr>
          <a:xfrm>
            <a:off x="2211983" y="3942631"/>
            <a:ext cx="8791575" cy="1655762"/>
          </a:xfrm>
        </p:spPr>
        <p:txBody>
          <a:bodyPr>
            <a:normAutofit/>
          </a:bodyPr>
          <a:lstStyle/>
          <a:p>
            <a:pPr algn="ctr"/>
            <a:r>
              <a:rPr lang="en-US" dirty="0" smtClean="0"/>
              <a:t>Lê Phúc Lữ, IUH 2022</a:t>
            </a:r>
          </a:p>
          <a:p>
            <a:pPr algn="ctr"/>
            <a:r>
              <a:rPr lang="en-US" dirty="0" smtClean="0"/>
              <a:t>Khoa học dữ liệu K15</a:t>
            </a:r>
            <a:endParaRPr lang="en-US" dirty="0"/>
          </a:p>
        </p:txBody>
      </p:sp>
    </p:spTree>
    <p:extLst>
      <p:ext uri="{BB962C8B-B14F-4D97-AF65-F5344CB8AC3E}">
        <p14:creationId xmlns:p14="http://schemas.microsoft.com/office/powerpoint/2010/main" val="836118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Hàm tổn thất</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45110" y="1814077"/>
            <a:ext cx="11098602" cy="3551553"/>
          </a:xfrm>
          <a:prstGeom prst="rect">
            <a:avLst/>
          </a:prstGeom>
        </p:spPr>
      </p:pic>
    </p:spTree>
    <p:extLst>
      <p:ext uri="{BB962C8B-B14F-4D97-AF65-F5344CB8AC3E}">
        <p14:creationId xmlns:p14="http://schemas.microsoft.com/office/powerpoint/2010/main" val="195929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CÁCH ĐÁNH GIÁ</a:t>
            </a:r>
            <a:endParaRPr lang="en-US" dirty="0"/>
          </a:p>
        </p:txBody>
      </p:sp>
      <p:pic>
        <p:nvPicPr>
          <p:cNvPr id="4" name="Content Placeholder 3"/>
          <p:cNvPicPr>
            <a:picLocks noGrp="1" noChangeAspect="1"/>
          </p:cNvPicPr>
          <p:nvPr>
            <p:ph idx="1"/>
          </p:nvPr>
        </p:nvPicPr>
        <p:blipFill>
          <a:blip r:embed="rId2"/>
          <a:stretch>
            <a:fillRect/>
          </a:stretch>
        </p:blipFill>
        <p:spPr>
          <a:xfrm>
            <a:off x="1460590" y="2387510"/>
            <a:ext cx="9118695" cy="3987410"/>
          </a:xfrm>
          <a:prstGeom prst="rect">
            <a:avLst/>
          </a:prstGeom>
        </p:spPr>
      </p:pic>
    </p:spTree>
    <p:extLst>
      <p:ext uri="{BB962C8B-B14F-4D97-AF65-F5344CB8AC3E}">
        <p14:creationId xmlns:p14="http://schemas.microsoft.com/office/powerpoint/2010/main" val="2874189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ƯỚC LƯỢNG ĐIỂM</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2588" y="2492498"/>
            <a:ext cx="10713293" cy="3209561"/>
          </a:xfrm>
        </p:spPr>
      </p:pic>
    </p:spTree>
    <p:extLst>
      <p:ext uri="{BB962C8B-B14F-4D97-AF65-F5344CB8AC3E}">
        <p14:creationId xmlns:p14="http://schemas.microsoft.com/office/powerpoint/2010/main" val="760283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SAI SỐ HẬU NGHI</a:t>
            </a:r>
            <a:r>
              <a:rPr lang="en-US" b="1" dirty="0" smtClean="0"/>
              <a:t>Ệ</a:t>
            </a:r>
            <a:r>
              <a:rPr lang="en-US" dirty="0" smtClean="0"/>
              <a:t>M</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81643" y="2502340"/>
            <a:ext cx="11021825" cy="2576735"/>
          </a:xfrm>
          <a:prstGeom prst="rect">
            <a:avLst/>
          </a:prstGeom>
        </p:spPr>
      </p:pic>
    </p:spTree>
    <p:extLst>
      <p:ext uri="{BB962C8B-B14F-4D97-AF65-F5344CB8AC3E}">
        <p14:creationId xmlns:p14="http://schemas.microsoft.com/office/powerpoint/2010/main" val="680243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KIỂM ĐỊNH GIẢ THUYẾT</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110376" y="2025044"/>
            <a:ext cx="9968069" cy="4400190"/>
          </a:xfrm>
          <a:prstGeom prst="rect">
            <a:avLst/>
          </a:prstGeom>
        </p:spPr>
      </p:pic>
    </p:spTree>
    <p:extLst>
      <p:ext uri="{BB962C8B-B14F-4D97-AF65-F5344CB8AC3E}">
        <p14:creationId xmlns:p14="http://schemas.microsoft.com/office/powerpoint/2010/main" val="4135282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BAYESIAN FACTOR</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07002" y="2259229"/>
            <a:ext cx="10574817" cy="3684371"/>
          </a:xfrm>
          <a:prstGeom prst="rect">
            <a:avLst/>
          </a:prstGeom>
        </p:spPr>
      </p:pic>
    </p:spTree>
    <p:extLst>
      <p:ext uri="{BB962C8B-B14F-4D97-AF65-F5344CB8AC3E}">
        <p14:creationId xmlns:p14="http://schemas.microsoft.com/office/powerpoint/2010/main" val="2601889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YẾU TỐ</a:t>
            </a:r>
            <a:endParaRPr lang="en-US" dirty="0"/>
          </a:p>
        </p:txBody>
      </p:sp>
      <p:sp>
        <p:nvSpPr>
          <p:cNvPr id="3" name="Content Placeholder 2"/>
          <p:cNvSpPr>
            <a:spLocks noGrp="1"/>
          </p:cNvSpPr>
          <p:nvPr>
            <p:ph idx="1"/>
          </p:nvPr>
        </p:nvSpPr>
        <p:spPr/>
        <p:txBody>
          <a:bodyPr>
            <a:normAutofit/>
          </a:bodyPr>
          <a:lstStyle/>
          <a:p>
            <a:pPr marL="0" indent="0">
              <a:buNone/>
            </a:pPr>
            <a:r>
              <a:rPr lang="vi-VN" dirty="0"/>
              <a:t>Từ quan điểm của lý thuyết quyết định, mô hình thống kê được xác định bởi ba không gian: </a:t>
            </a:r>
          </a:p>
          <a:p>
            <a:pPr marL="0" indent="0">
              <a:buNone/>
            </a:pPr>
            <a:r>
              <a:rPr lang="vi-VN" dirty="0"/>
              <a:t>* X là không gian các quan sát;</a:t>
            </a:r>
          </a:p>
          <a:p>
            <a:pPr marL="0" indent="0">
              <a:buNone/>
            </a:pPr>
            <a:r>
              <a:rPr lang="vi-VN" dirty="0"/>
              <a:t>* </a:t>
            </a:r>
            <a:r>
              <a:rPr lang="el-GR" dirty="0"/>
              <a:t>Θ </a:t>
            </a:r>
            <a:r>
              <a:rPr lang="vi-VN" dirty="0"/>
              <a:t>là không gian các tham số;</a:t>
            </a:r>
          </a:p>
          <a:p>
            <a:pPr marL="0" indent="0">
              <a:buNone/>
            </a:pPr>
            <a:r>
              <a:rPr lang="vi-VN" dirty="0"/>
              <a:t>* D là không gian các quyết định. </a:t>
            </a:r>
          </a:p>
          <a:p>
            <a:pPr marL="0" indent="0">
              <a:buNone/>
            </a:pPr>
            <a:r>
              <a:rPr lang="vi-VN" dirty="0"/>
              <a:t>Các quyết định có vai trò quan trọng trong bài toán phân tích rủi ro.</a:t>
            </a:r>
            <a:endParaRPr lang="en-US" dirty="0"/>
          </a:p>
        </p:txBody>
      </p:sp>
    </p:spTree>
    <p:extLst>
      <p:ext uri="{BB962C8B-B14F-4D97-AF65-F5344CB8AC3E}">
        <p14:creationId xmlns:p14="http://schemas.microsoft.com/office/powerpoint/2010/main" val="3529752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CHÚ Ý</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26636" y="2679536"/>
            <a:ext cx="10535549" cy="2257618"/>
          </a:xfrm>
          <a:prstGeom prst="rect">
            <a:avLst/>
          </a:prstGeom>
        </p:spPr>
      </p:pic>
    </p:spTree>
    <p:extLst>
      <p:ext uri="{BB962C8B-B14F-4D97-AF65-F5344CB8AC3E}">
        <p14:creationId xmlns:p14="http://schemas.microsoft.com/office/powerpoint/2010/main" val="3832184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77130"/>
            <a:ext cx="9905998" cy="1478570"/>
          </a:xfrm>
        </p:spPr>
        <p:txBody>
          <a:bodyPr/>
          <a:lstStyle/>
          <a:p>
            <a:r>
              <a:rPr lang="en-US" dirty="0" smtClean="0"/>
              <a:t>KIỂM ĐỊNH HAI PHÍA – MỘT PHÍA</a:t>
            </a:r>
            <a:endParaRPr lang="en-US" dirty="0"/>
          </a:p>
        </p:txBody>
      </p:sp>
      <p:sp>
        <p:nvSpPr>
          <p:cNvPr id="3" name="Content Placeholder 2"/>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1472606" y="1348129"/>
            <a:ext cx="8820689" cy="5026175"/>
          </a:xfrm>
          <a:prstGeom prst="rect">
            <a:avLst/>
          </a:prstGeom>
        </p:spPr>
      </p:pic>
    </p:spTree>
    <p:extLst>
      <p:ext uri="{BB962C8B-B14F-4D97-AF65-F5344CB8AC3E}">
        <p14:creationId xmlns:p14="http://schemas.microsoft.com/office/powerpoint/2010/main" val="985837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29003"/>
            <a:ext cx="9905998" cy="1478570"/>
          </a:xfrm>
        </p:spPr>
        <p:txBody>
          <a:bodyPr/>
          <a:lstStyle/>
          <a:p>
            <a:r>
              <a:rPr lang="en-US" dirty="0" smtClean="0"/>
              <a:t>Kiểm định bayes</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1233" y="1434840"/>
            <a:ext cx="7000462" cy="5084913"/>
          </a:xfrm>
        </p:spPr>
      </p:pic>
    </p:spTree>
    <p:extLst>
      <p:ext uri="{BB962C8B-B14F-4D97-AF65-F5344CB8AC3E}">
        <p14:creationId xmlns:p14="http://schemas.microsoft.com/office/powerpoint/2010/main" val="3540295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 SÁNH TRUNG BÌNH</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009289" y="2249487"/>
            <a:ext cx="10672313" cy="3634107"/>
          </a:xfrm>
          <a:prstGeom prst="rect">
            <a:avLst/>
          </a:prstGeom>
        </p:spPr>
      </p:pic>
    </p:spTree>
    <p:extLst>
      <p:ext uri="{BB962C8B-B14F-4D97-AF65-F5344CB8AC3E}">
        <p14:creationId xmlns:p14="http://schemas.microsoft.com/office/powerpoint/2010/main" val="3357446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 SÁNH TRUNG BÌNH</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3650" y="2343924"/>
            <a:ext cx="10361524" cy="3483298"/>
          </a:xfrm>
        </p:spPr>
      </p:pic>
    </p:spTree>
    <p:extLst>
      <p:ext uri="{BB962C8B-B14F-4D97-AF65-F5344CB8AC3E}">
        <p14:creationId xmlns:p14="http://schemas.microsoft.com/office/powerpoint/2010/main" val="1043726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Tóm tắt</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670858" y="1975231"/>
            <a:ext cx="8593172" cy="4458820"/>
          </a:xfrm>
          <a:prstGeom prst="rect">
            <a:avLst/>
          </a:prstGeom>
        </p:spPr>
      </p:pic>
    </p:spTree>
    <p:extLst>
      <p:ext uri="{BB962C8B-B14F-4D97-AF65-F5344CB8AC3E}">
        <p14:creationId xmlns:p14="http://schemas.microsoft.com/office/powerpoint/2010/main" val="360355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Ví dụ</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141412" y="2249487"/>
            <a:ext cx="9928618" cy="2181197"/>
          </a:xfrm>
          <a:prstGeom prst="rect">
            <a:avLst/>
          </a:prstGeom>
        </p:spPr>
      </p:pic>
    </p:spTree>
    <p:extLst>
      <p:ext uri="{BB962C8B-B14F-4D97-AF65-F5344CB8AC3E}">
        <p14:creationId xmlns:p14="http://schemas.microsoft.com/office/powerpoint/2010/main" val="1059347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337174" y="169199"/>
            <a:ext cx="6619875" cy="6419850"/>
          </a:xfrm>
          <a:prstGeom prst="rect">
            <a:avLst/>
          </a:prstGeom>
        </p:spPr>
      </p:pic>
    </p:spTree>
    <p:extLst>
      <p:ext uri="{BB962C8B-B14F-4D97-AF65-F5344CB8AC3E}">
        <p14:creationId xmlns:p14="http://schemas.microsoft.com/office/powerpoint/2010/main" val="512988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Xác suất lỗi trung bình</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192" y="2097088"/>
            <a:ext cx="10220439" cy="1596944"/>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9354" y="4176758"/>
            <a:ext cx="5390368" cy="2115976"/>
          </a:xfrm>
          <a:prstGeom prst="rect">
            <a:avLst/>
          </a:prstGeom>
        </p:spPr>
      </p:pic>
    </p:spTree>
    <p:extLst>
      <p:ext uri="{BB962C8B-B14F-4D97-AF65-F5344CB8AC3E}">
        <p14:creationId xmlns:p14="http://schemas.microsoft.com/office/powerpoint/2010/main" val="3814673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02882"/>
            <a:ext cx="9905998" cy="1027402"/>
          </a:xfrm>
        </p:spPr>
        <p:txBody>
          <a:bodyPr/>
          <a:lstStyle/>
          <a:p>
            <a:r>
              <a:rPr lang="en-US" dirty="0" smtClean="0"/>
              <a:t>Tính toán lỗi</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11225" y="1335087"/>
            <a:ext cx="5767261" cy="5036695"/>
          </a:xfrm>
        </p:spPr>
      </p:pic>
    </p:spTree>
    <p:extLst>
      <p:ext uri="{BB962C8B-B14F-4D97-AF65-F5344CB8AC3E}">
        <p14:creationId xmlns:p14="http://schemas.microsoft.com/office/powerpoint/2010/main" val="3618768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Vấn đề minimum cost</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561965" y="2097088"/>
            <a:ext cx="6210199" cy="4328650"/>
          </a:xfrm>
          <a:prstGeom prst="rect">
            <a:avLst/>
          </a:prstGeom>
        </p:spPr>
      </p:pic>
    </p:spTree>
    <p:extLst>
      <p:ext uri="{BB962C8B-B14F-4D97-AF65-F5344CB8AC3E}">
        <p14:creationId xmlns:p14="http://schemas.microsoft.com/office/powerpoint/2010/main" val="2309248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Ví dụ</a:t>
            </a:r>
            <a:endParaRPr lang="en-US" dirty="0"/>
          </a:p>
        </p:txBody>
      </p:sp>
      <p:sp>
        <p:nvSpPr>
          <p:cNvPr id="3" name="Content Placeholder 2"/>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1008870" y="2249487"/>
            <a:ext cx="10101232" cy="2887778"/>
          </a:xfrm>
          <a:prstGeom prst="rect">
            <a:avLst/>
          </a:prstGeom>
        </p:spPr>
      </p:pic>
    </p:spTree>
    <p:extLst>
      <p:ext uri="{BB962C8B-B14F-4D97-AF65-F5344CB8AC3E}">
        <p14:creationId xmlns:p14="http://schemas.microsoft.com/office/powerpoint/2010/main" val="575570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379306" y="1521401"/>
            <a:ext cx="9719291" cy="4156191"/>
          </a:xfrm>
          <a:prstGeom prst="rect">
            <a:avLst/>
          </a:prstGeom>
        </p:spPr>
      </p:pic>
    </p:spTree>
    <p:extLst>
      <p:ext uri="{BB962C8B-B14F-4D97-AF65-F5344CB8AC3E}">
        <p14:creationId xmlns:p14="http://schemas.microsoft.com/office/powerpoint/2010/main" val="2619969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Tiên nghi</a:t>
            </a:r>
            <a:r>
              <a:rPr lang="en-US" b="1" dirty="0" smtClean="0"/>
              <a:t>ệ</a:t>
            </a:r>
            <a:r>
              <a:rPr lang="en-US" dirty="0" smtClean="0"/>
              <a:t>m hỗn hợp</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141412" y="2072481"/>
            <a:ext cx="9982200" cy="3895725"/>
          </a:xfrm>
          <a:prstGeom prst="rect">
            <a:avLst/>
          </a:prstGeom>
        </p:spPr>
      </p:pic>
    </p:spTree>
    <p:extLst>
      <p:ext uri="{BB962C8B-B14F-4D97-AF65-F5344CB8AC3E}">
        <p14:creationId xmlns:p14="http://schemas.microsoft.com/office/powerpoint/2010/main" val="1738831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Ví dụ</a:t>
            </a:r>
            <a:endParaRPr lang="en-US" dirty="0"/>
          </a:p>
        </p:txBody>
      </p:sp>
      <p:sp>
        <p:nvSpPr>
          <p:cNvPr id="3" name="Content Placeholder 2"/>
          <p:cNvSpPr>
            <a:spLocks noGrp="1"/>
          </p:cNvSpPr>
          <p:nvPr>
            <p:ph idx="1"/>
          </p:nvPr>
        </p:nvSpPr>
        <p:spPr/>
        <p:txBody>
          <a:bodyPr>
            <a:normAutofit lnSpcReduction="10000"/>
          </a:bodyPr>
          <a:lstStyle/>
          <a:p>
            <a:pPr marL="0" indent="0" algn="just">
              <a:buNone/>
            </a:pPr>
            <a:r>
              <a:rPr lang="vi-VN" dirty="0"/>
              <a:t>Ta quan tâm đến việc điều tra vấn đề hô hấp của trẻ sơ sinh, liên quan đến trọng lượng của chúng. Một số trẻ mắc hô hấp sẽ dẫn đến tử vong với tỷ lệ 40% (niềm tin tiên nghiệm). Cân nặng trung bình của trẻ sơ </a:t>
            </a:r>
            <a:r>
              <a:rPr lang="vi-VN" dirty="0" smtClean="0"/>
              <a:t>sinh</a:t>
            </a:r>
            <a:r>
              <a:rPr lang="en-US" dirty="0" smtClean="0"/>
              <a:t> ứng với hai trường hợp là:</a:t>
            </a:r>
            <a:endParaRPr lang="vi-VN" dirty="0"/>
          </a:p>
          <a:p>
            <a:pPr marL="0" indent="0">
              <a:buNone/>
            </a:pPr>
            <a:r>
              <a:rPr lang="vi-VN" dirty="0"/>
              <a:t>- Sống sót có phân phối chuẩn là N(2.3, 0.52^2), </a:t>
            </a:r>
          </a:p>
          <a:p>
            <a:pPr marL="0" indent="0">
              <a:buNone/>
            </a:pPr>
            <a:r>
              <a:rPr lang="vi-VN" dirty="0"/>
              <a:t>- Tử vong có phân phối chuẩn là N(1.7, 0.66^2). </a:t>
            </a:r>
          </a:p>
          <a:p>
            <a:pPr marL="0" indent="0">
              <a:buNone/>
            </a:pPr>
            <a:r>
              <a:rPr lang="vi-VN" dirty="0"/>
              <a:t>Tính phân phối tiên nghiệm của cân nặng của trẻ sống khi mắc bệnh.</a:t>
            </a:r>
            <a:endParaRPr lang="en-US" dirty="0"/>
          </a:p>
        </p:txBody>
      </p:sp>
    </p:spTree>
    <p:extLst>
      <p:ext uri="{BB962C8B-B14F-4D97-AF65-F5344CB8AC3E}">
        <p14:creationId xmlns:p14="http://schemas.microsoft.com/office/powerpoint/2010/main" val="169665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546167" y="312008"/>
            <a:ext cx="8239818" cy="6184042"/>
          </a:xfrm>
          <a:prstGeom prst="rect">
            <a:avLst/>
          </a:prstGeom>
        </p:spPr>
      </p:pic>
    </p:spTree>
    <p:extLst>
      <p:ext uri="{BB962C8B-B14F-4D97-AF65-F5344CB8AC3E}">
        <p14:creationId xmlns:p14="http://schemas.microsoft.com/office/powerpoint/2010/main" val="2327252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Mean và variance</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950911" y="2249487"/>
            <a:ext cx="10287000" cy="3695700"/>
          </a:xfrm>
          <a:prstGeom prst="rect">
            <a:avLst/>
          </a:prstGeom>
        </p:spPr>
      </p:pic>
    </p:spTree>
    <p:extLst>
      <p:ext uri="{BB962C8B-B14F-4D97-AF65-F5344CB8AC3E}">
        <p14:creationId xmlns:p14="http://schemas.microsoft.com/office/powerpoint/2010/main" val="176001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973" y="103129"/>
            <a:ext cx="9905998" cy="869460"/>
          </a:xfrm>
        </p:spPr>
        <p:txBody>
          <a:bodyPr/>
          <a:lstStyle/>
          <a:p>
            <a:r>
              <a:rPr lang="en-US" dirty="0" smtClean="0"/>
              <a:t>Hậu nghi</a:t>
            </a:r>
            <a:r>
              <a:rPr lang="en-US" b="1" dirty="0" smtClean="0"/>
              <a:t>ệ</a:t>
            </a:r>
            <a:r>
              <a:rPr lang="en-US" dirty="0" smtClean="0"/>
              <a:t>m hỗn hợp</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695797" y="972589"/>
            <a:ext cx="8394408" cy="5864036"/>
          </a:xfrm>
          <a:prstGeom prst="rect">
            <a:avLst/>
          </a:prstGeom>
        </p:spPr>
      </p:pic>
    </p:spTree>
    <p:extLst>
      <p:ext uri="{BB962C8B-B14F-4D97-AF65-F5344CB8AC3E}">
        <p14:creationId xmlns:p14="http://schemas.microsoft.com/office/powerpoint/2010/main" val="2172436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66502"/>
            <a:ext cx="9905998" cy="1315692"/>
          </a:xfrm>
        </p:spPr>
        <p:txBody>
          <a:bodyPr/>
          <a:lstStyle/>
          <a:p>
            <a:r>
              <a:rPr lang="en-US" dirty="0" smtClean="0"/>
              <a:t>Trọng số</a:t>
            </a:r>
            <a:endParaRPr lang="en-US" dirty="0"/>
          </a:p>
        </p:txBody>
      </p:sp>
      <p:sp>
        <p:nvSpPr>
          <p:cNvPr id="3" name="Content Placeholder 2"/>
          <p:cNvSpPr>
            <a:spLocks noGrp="1"/>
          </p:cNvSpPr>
          <p:nvPr>
            <p:ph idx="1"/>
          </p:nvPr>
        </p:nvSpPr>
        <p:spPr>
          <a:xfrm>
            <a:off x="1141412" y="2257800"/>
            <a:ext cx="9905999" cy="3541714"/>
          </a:xfrm>
        </p:spPr>
        <p:txBody>
          <a:bodyPr/>
          <a:lstStyle/>
          <a:p>
            <a:endParaRPr lang="en-US"/>
          </a:p>
        </p:txBody>
      </p:sp>
      <p:pic>
        <p:nvPicPr>
          <p:cNvPr id="4" name="Picture 3"/>
          <p:cNvPicPr>
            <a:picLocks noChangeAspect="1"/>
          </p:cNvPicPr>
          <p:nvPr/>
        </p:nvPicPr>
        <p:blipFill>
          <a:blip r:embed="rId2"/>
          <a:stretch>
            <a:fillRect/>
          </a:stretch>
        </p:blipFill>
        <p:spPr>
          <a:xfrm>
            <a:off x="1845424" y="962109"/>
            <a:ext cx="8816079" cy="5806508"/>
          </a:xfrm>
          <a:prstGeom prst="rect">
            <a:avLst/>
          </a:prstGeom>
        </p:spPr>
      </p:pic>
    </p:spTree>
    <p:extLst>
      <p:ext uri="{BB962C8B-B14F-4D97-AF65-F5344CB8AC3E}">
        <p14:creationId xmlns:p14="http://schemas.microsoft.com/office/powerpoint/2010/main" val="3718576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055716"/>
          </a:xfrm>
        </p:spPr>
        <p:txBody>
          <a:bodyPr/>
          <a:lstStyle/>
          <a:p>
            <a:r>
              <a:rPr lang="en-US" dirty="0" smtClean="0"/>
              <a:t>Ví dụ</a:t>
            </a:r>
            <a:endParaRPr lang="en-US" dirty="0"/>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221970" y="1145574"/>
            <a:ext cx="8935979" cy="5562191"/>
          </a:xfrm>
          <a:prstGeom prst="rect">
            <a:avLst/>
          </a:prstGeom>
        </p:spPr>
      </p:pic>
    </p:spTree>
    <p:extLst>
      <p:ext uri="{BB962C8B-B14F-4D97-AF65-F5344CB8AC3E}">
        <p14:creationId xmlns:p14="http://schemas.microsoft.com/office/powerpoint/2010/main" val="1094580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256347" y="109624"/>
            <a:ext cx="9496425" cy="6572250"/>
          </a:xfrm>
          <a:prstGeom prst="rect">
            <a:avLst/>
          </a:prstGeom>
        </p:spPr>
      </p:pic>
    </p:spTree>
    <p:extLst>
      <p:ext uri="{BB962C8B-B14F-4D97-AF65-F5344CB8AC3E}">
        <p14:creationId xmlns:p14="http://schemas.microsoft.com/office/powerpoint/2010/main" val="2425723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602" y="157075"/>
            <a:ext cx="9905998" cy="944275"/>
          </a:xfrm>
        </p:spPr>
        <p:txBody>
          <a:bodyPr/>
          <a:lstStyle/>
          <a:p>
            <a:r>
              <a:rPr lang="en-US" dirty="0" smtClean="0"/>
              <a:t>Ví dụ</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745672" y="1365523"/>
            <a:ext cx="7260734" cy="5161988"/>
          </a:xfrm>
          <a:prstGeom prst="rect">
            <a:avLst/>
          </a:prstGeom>
        </p:spPr>
      </p:pic>
    </p:spTree>
    <p:extLst>
      <p:ext uri="{BB962C8B-B14F-4D97-AF65-F5344CB8AC3E}">
        <p14:creationId xmlns:p14="http://schemas.microsoft.com/office/powerpoint/2010/main" val="595985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712422" y="433607"/>
            <a:ext cx="8548341" cy="5918701"/>
          </a:xfrm>
          <a:prstGeom prst="rect">
            <a:avLst/>
          </a:prstGeom>
        </p:spPr>
      </p:pic>
    </p:spTree>
    <p:extLst>
      <p:ext uri="{BB962C8B-B14F-4D97-AF65-F5344CB8AC3E}">
        <p14:creationId xmlns:p14="http://schemas.microsoft.com/office/powerpoint/2010/main" val="2395944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923082" y="477202"/>
            <a:ext cx="8203118" cy="6163282"/>
          </a:xfrm>
          <a:prstGeom prst="rect">
            <a:avLst/>
          </a:prstGeom>
        </p:spPr>
      </p:pic>
    </p:spTree>
    <p:extLst>
      <p:ext uri="{BB962C8B-B14F-4D97-AF65-F5344CB8AC3E}">
        <p14:creationId xmlns:p14="http://schemas.microsoft.com/office/powerpoint/2010/main" val="21596600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2542</TotalTime>
  <Words>259</Words>
  <Application>Microsoft Office PowerPoint</Application>
  <PresentationFormat>Widescreen</PresentationFormat>
  <Paragraphs>37</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Trebuchet MS</vt:lpstr>
      <vt:lpstr>Tw Cen MT</vt:lpstr>
      <vt:lpstr>UVN Saigon</vt:lpstr>
      <vt:lpstr>Circuit</vt:lpstr>
      <vt:lpstr>Đánh giá kiểm định  &amp; liên hợp hỗn hợp</vt:lpstr>
      <vt:lpstr>Hàm tổn thất</vt:lpstr>
      <vt:lpstr>CÁC CÁCH ĐÁNH GIÁ</vt:lpstr>
      <vt:lpstr>ƯỚC LƯỢNG ĐIỂM</vt:lpstr>
      <vt:lpstr>SAI SỐ HẬU NGHIỆM</vt:lpstr>
      <vt:lpstr>KIỂM ĐỊNH GIẢ THUYẾT</vt:lpstr>
      <vt:lpstr>BAYESIAN FACTOR</vt:lpstr>
      <vt:lpstr>CÁC YẾU TỐ</vt:lpstr>
      <vt:lpstr>CHÚ Ý</vt:lpstr>
      <vt:lpstr>KIỂM ĐỊNH HAI PHÍA – MỘT PHÍA</vt:lpstr>
      <vt:lpstr>Kiểm định bayes</vt:lpstr>
      <vt:lpstr>SO SÁNH TRUNG BÌNH</vt:lpstr>
      <vt:lpstr>SO SÁNH TRUNG BÌNH</vt:lpstr>
      <vt:lpstr>Tóm tắt</vt:lpstr>
      <vt:lpstr>Ví dụ</vt:lpstr>
      <vt:lpstr>PowerPoint Presentation</vt:lpstr>
      <vt:lpstr>Xác suất lỗi trung bình</vt:lpstr>
      <vt:lpstr>Tính toán lỗi</vt:lpstr>
      <vt:lpstr>Vấn đề minimum cost</vt:lpstr>
      <vt:lpstr>Ví dụ</vt:lpstr>
      <vt:lpstr>PowerPoint Presentation</vt:lpstr>
      <vt:lpstr>Tiên nghiệm hỗn hợp</vt:lpstr>
      <vt:lpstr>Ví dụ</vt:lpstr>
      <vt:lpstr>PowerPoint Presentation</vt:lpstr>
      <vt:lpstr>Mean và variance</vt:lpstr>
      <vt:lpstr>Hậu nghiệm hỗn hợp</vt:lpstr>
      <vt:lpstr>Trọng số</vt:lpstr>
      <vt:lpstr>Ví dụ</vt:lpstr>
      <vt:lpstr>PowerPoint Presentation</vt:lpstr>
      <vt:lpstr>Ví dụ</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VỀ BAYESIAN ANALYSIS</dc:title>
  <dc:creator>Lữ Lê Phúc</dc:creator>
  <cp:lastModifiedBy>Lữ Lê Phúc</cp:lastModifiedBy>
  <cp:revision>203</cp:revision>
  <dcterms:created xsi:type="dcterms:W3CDTF">2022-08-11T15:14:01Z</dcterms:created>
  <dcterms:modified xsi:type="dcterms:W3CDTF">2022-10-06T12:34:13Z</dcterms:modified>
</cp:coreProperties>
</file>