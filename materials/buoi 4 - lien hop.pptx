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1" r:id="rId1"/>
  </p:sldMasterIdLst>
  <p:sldIdLst>
    <p:sldId id="256" r:id="rId2"/>
    <p:sldId id="292" r:id="rId3"/>
    <p:sldId id="284" r:id="rId4"/>
    <p:sldId id="285" r:id="rId5"/>
    <p:sldId id="286" r:id="rId6"/>
    <p:sldId id="291" r:id="rId7"/>
    <p:sldId id="293" r:id="rId8"/>
    <p:sldId id="287" r:id="rId9"/>
    <p:sldId id="289" r:id="rId10"/>
    <p:sldId id="290" r:id="rId11"/>
    <p:sldId id="294" r:id="rId12"/>
    <p:sldId id="295" r:id="rId13"/>
    <p:sldId id="275" r:id="rId14"/>
    <p:sldId id="258" r:id="rId15"/>
    <p:sldId id="296" r:id="rId16"/>
    <p:sldId id="297" r:id="rId17"/>
    <p:sldId id="298" r:id="rId18"/>
    <p:sldId id="299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300" r:id="rId28"/>
    <p:sldId id="264" r:id="rId29"/>
    <p:sldId id="265" r:id="rId30"/>
    <p:sldId id="267" r:id="rId31"/>
    <p:sldId id="268" r:id="rId32"/>
    <p:sldId id="269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D08330C-B4E0-4A55-83BD-FE8DA70D9D87}">
          <p14:sldIdLst>
            <p14:sldId id="256"/>
            <p14:sldId id="292"/>
            <p14:sldId id="284"/>
            <p14:sldId id="285"/>
            <p14:sldId id="286"/>
            <p14:sldId id="291"/>
            <p14:sldId id="293"/>
            <p14:sldId id="287"/>
            <p14:sldId id="289"/>
            <p14:sldId id="290"/>
            <p14:sldId id="294"/>
            <p14:sldId id="295"/>
            <p14:sldId id="275"/>
            <p14:sldId id="258"/>
            <p14:sldId id="296"/>
            <p14:sldId id="297"/>
            <p14:sldId id="298"/>
            <p14:sldId id="299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300"/>
            <p14:sldId id="264"/>
            <p14:sldId id="265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1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7B005785-1C94-4EA9-B929-2CCD955333F7}" type="datetimeFigureOut">
              <a:rPr lang="en-US" smtClean="0"/>
              <a:t>14/9/2022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130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5785-1C94-4EA9-B929-2CCD955333F7}" type="datetimeFigureOut">
              <a:rPr lang="en-US" smtClean="0"/>
              <a:t>14/9/2022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10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5785-1C94-4EA9-B929-2CCD955333F7}" type="datetimeFigureOut">
              <a:rPr lang="en-US" smtClean="0"/>
              <a:t>14/9/2022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937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5785-1C94-4EA9-B929-2CCD955333F7}" type="datetimeFigureOut">
              <a:rPr lang="en-US" smtClean="0"/>
              <a:t>14/9/2022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707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5785-1C94-4EA9-B929-2CCD955333F7}" type="datetimeFigureOut">
              <a:rPr lang="en-US" smtClean="0"/>
              <a:t>14/9/2022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765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5785-1C94-4EA9-B929-2CCD955333F7}" type="datetimeFigureOut">
              <a:rPr lang="en-US" smtClean="0"/>
              <a:t>14/9/2022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976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5785-1C94-4EA9-B929-2CCD955333F7}" type="datetimeFigureOut">
              <a:rPr lang="en-US" smtClean="0"/>
              <a:t>14/9/2022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235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5785-1C94-4EA9-B929-2CCD955333F7}" type="datetimeFigureOut">
              <a:rPr lang="en-US" smtClean="0"/>
              <a:t>14/9/2022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481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5785-1C94-4EA9-B929-2CCD955333F7}" type="datetimeFigureOut">
              <a:rPr lang="en-US" smtClean="0"/>
              <a:t>14/9/2022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366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5785-1C94-4EA9-B929-2CCD955333F7}" type="datetimeFigureOut">
              <a:rPr lang="en-US" smtClean="0"/>
              <a:t>14/9/2022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980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5785-1C94-4EA9-B929-2CCD955333F7}" type="datetimeFigureOut">
              <a:rPr lang="en-US" smtClean="0"/>
              <a:t>14/9/2022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487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5785-1C94-4EA9-B929-2CCD955333F7}" type="datetimeFigureOut">
              <a:rPr lang="en-US" smtClean="0"/>
              <a:t>14/9/2022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856778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5785-1C94-4EA9-B929-2CCD955333F7}" type="datetimeFigureOut">
              <a:rPr lang="en-US" smtClean="0"/>
              <a:t>14/9/2022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7130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5785-1C94-4EA9-B929-2CCD955333F7}" type="datetimeFigureOut">
              <a:rPr lang="en-US" smtClean="0"/>
              <a:t>14/9/2022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5995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5785-1C94-4EA9-B929-2CCD955333F7}" type="datetimeFigureOut">
              <a:rPr lang="en-US" smtClean="0"/>
              <a:t>14/9/2022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9389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5785-1C94-4EA9-B929-2CCD955333F7}" type="datetimeFigureOut">
              <a:rPr lang="en-US" smtClean="0"/>
              <a:t>14/9/2022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035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5785-1C94-4EA9-B929-2CCD955333F7}" type="datetimeFigureOut">
              <a:rPr lang="en-US" smtClean="0"/>
              <a:t>14/9/2022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971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005785-1C94-4EA9-B929-2CCD955333F7}" type="datetimeFigureOut">
              <a:rPr lang="en-US" smtClean="0"/>
              <a:t>14/9/2022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9802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  <p:sldLayoutId id="2147483845" r:id="rId14"/>
    <p:sldLayoutId id="2147483846" r:id="rId15"/>
    <p:sldLayoutId id="2147483847" r:id="rId16"/>
    <p:sldLayoutId id="2147483848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3" y="1122363"/>
            <a:ext cx="9561889" cy="2387600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UVN Saigon" panose="00000400000000000000" pitchFamily="2" charset="0"/>
              </a:rPr>
              <a:t>các họ phân phối</a:t>
            </a:r>
            <a:br>
              <a:rPr lang="en-US" b="1" dirty="0" smtClean="0">
                <a:latin typeface="UVN Saigon" panose="00000400000000000000" pitchFamily="2" charset="0"/>
              </a:rPr>
            </a:br>
            <a:r>
              <a:rPr lang="en-US" b="1" dirty="0" smtClean="0">
                <a:latin typeface="UVN Saigon" panose="00000400000000000000" pitchFamily="2" charset="0"/>
              </a:rPr>
              <a:t>LIÊN HỢP</a:t>
            </a:r>
            <a:endParaRPr lang="en-US" b="1" dirty="0">
              <a:latin typeface="UVN Saigon" panose="000004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1983" y="3942631"/>
            <a:ext cx="8791575" cy="1655762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Lê Phúc Lữ, IUH 2022</a:t>
            </a:r>
          </a:p>
          <a:p>
            <a:pPr algn="ctr"/>
            <a:r>
              <a:rPr lang="en-US" dirty="0" smtClean="0"/>
              <a:t>Khoa học dữ liệu K15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118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Hàm gamma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Hàm Gamma là cơ sở quan trọng để xây dựng hai họ phân phối: Gamma và Beta.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272" y="3570749"/>
            <a:ext cx="8410575" cy="149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91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138446"/>
            <a:ext cx="9905998" cy="1478570"/>
          </a:xfrm>
        </p:spPr>
        <p:txBody>
          <a:bodyPr/>
          <a:lstStyle/>
          <a:p>
            <a:r>
              <a:rPr lang="en-US" dirty="0" smtClean="0"/>
              <a:t>Nhắc lại về phân phối beta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864" y="1477368"/>
            <a:ext cx="9029093" cy="4913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203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287" y="363768"/>
            <a:ext cx="9298391" cy="610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19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978" y="1416108"/>
            <a:ext cx="10782300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335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Entropy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Google Shape;422;p44"/>
          <p:cNvSpPr/>
          <p:nvPr/>
        </p:nvSpPr>
        <p:spPr>
          <a:xfrm>
            <a:off x="4560518" y="2720678"/>
            <a:ext cx="3961200" cy="3513900"/>
          </a:xfrm>
          <a:prstGeom prst="roundRect">
            <a:avLst>
              <a:gd name="adj" fmla="val 8278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000" dirty="0" err="1">
                <a:solidFill>
                  <a:schemeClr val="bg1"/>
                </a:solidFill>
              </a:rPr>
              <a:t>Với</a:t>
            </a:r>
            <a:r>
              <a:rPr lang="en-US" sz="2000" dirty="0">
                <a:solidFill>
                  <a:schemeClr val="bg1"/>
                </a:solidFill>
              </a:rPr>
              <a:t> f </a:t>
            </a:r>
            <a:r>
              <a:rPr lang="en-US" sz="2000" dirty="0" err="1">
                <a:solidFill>
                  <a:schemeClr val="bg1"/>
                </a:solidFill>
              </a:rPr>
              <a:t>là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hàm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mật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độ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xác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suất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đây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còn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được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gọi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là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vi-VN" sz="2000" b="1" noProof="1">
                <a:solidFill>
                  <a:schemeClr val="bg2">
                    <a:lumMod val="75000"/>
                  </a:schemeClr>
                </a:solidFill>
              </a:rPr>
              <a:t>Entropy</a:t>
            </a:r>
            <a:r>
              <a:rPr lang="en-US" sz="2000" dirty="0">
                <a:solidFill>
                  <a:schemeClr val="bg1"/>
                </a:solidFill>
              </a:rPr>
              <a:t> Boltzmann, </a:t>
            </a:r>
            <a:r>
              <a:rPr lang="vi-VN" sz="2000" b="1" noProof="1">
                <a:solidFill>
                  <a:schemeClr val="bg2">
                    <a:lumMod val="75000"/>
                  </a:schemeClr>
                </a:solidFill>
              </a:rPr>
              <a:t>Entropy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liên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tục</a:t>
            </a:r>
            <a:r>
              <a:rPr lang="en-US" sz="2000" dirty="0">
                <a:solidFill>
                  <a:schemeClr val="bg1"/>
                </a:solidFill>
              </a:rPr>
              <a:t>, hay </a:t>
            </a:r>
            <a:r>
              <a:rPr lang="vi-VN" sz="2000" b="1" noProof="1">
                <a:solidFill>
                  <a:schemeClr val="bg2">
                    <a:lumMod val="75000"/>
                  </a:schemeClr>
                </a:solidFill>
              </a:rPr>
              <a:t>Entropy</a:t>
            </a:r>
            <a:r>
              <a:rPr lang="en-US" sz="2000" dirty="0">
                <a:solidFill>
                  <a:schemeClr val="bg1"/>
                </a:solidFill>
              </a:rPr>
              <a:t> vi </a:t>
            </a:r>
            <a:r>
              <a:rPr lang="en-US" sz="2000" dirty="0" err="1">
                <a:solidFill>
                  <a:schemeClr val="bg1"/>
                </a:solidFill>
              </a:rPr>
              <a:t>phân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  <a:endParaRPr lang="vi-VN" sz="2000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Google Shape;423;p44"/>
          <p:cNvSpPr/>
          <p:nvPr/>
        </p:nvSpPr>
        <p:spPr>
          <a:xfrm>
            <a:off x="470407" y="2720678"/>
            <a:ext cx="3961200" cy="3513900"/>
          </a:xfrm>
          <a:prstGeom prst="roundRect">
            <a:avLst>
              <a:gd name="adj" fmla="val 8278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smtClean="0">
                <a:solidFill>
                  <a:schemeClr val="bg1"/>
                </a:solidFill>
              </a:rPr>
              <a:t>L</a:t>
            </a:r>
            <a:r>
              <a:rPr lang="vi-VN" sz="2000" dirty="0" smtClean="0">
                <a:solidFill>
                  <a:schemeClr val="bg1"/>
                </a:solidFill>
              </a:rPr>
              <a:t>à </a:t>
            </a:r>
            <a:r>
              <a:rPr lang="vi-VN" sz="2000" dirty="0">
                <a:solidFill>
                  <a:schemeClr val="bg1"/>
                </a:solidFill>
              </a:rPr>
              <a:t>công thức hoàn chỉnh mà </a:t>
            </a:r>
            <a:r>
              <a:rPr lang="vi-VN" sz="2000" dirty="0">
                <a:solidFill>
                  <a:schemeClr val="tx2"/>
                </a:solidFill>
              </a:rPr>
              <a:t>Claude E. </a:t>
            </a:r>
            <a:r>
              <a:rPr lang="vi-VN" sz="2000" dirty="0" smtClean="0">
                <a:solidFill>
                  <a:schemeClr val="tx2"/>
                </a:solidFill>
              </a:rPr>
              <a:t>Shannon</a:t>
            </a:r>
            <a:r>
              <a:rPr lang="en-US" sz="2000" dirty="0" smtClean="0">
                <a:solidFill>
                  <a:schemeClr val="bg1"/>
                </a:solidFill>
              </a:rPr>
              <a:t>, </a:t>
            </a:r>
            <a:r>
              <a:rPr lang="vi-VN" sz="2000" dirty="0" smtClean="0">
                <a:solidFill>
                  <a:schemeClr val="bg1"/>
                </a:solidFill>
              </a:rPr>
              <a:t>tác </a:t>
            </a:r>
            <a:r>
              <a:rPr lang="vi-VN" sz="2000" dirty="0">
                <a:solidFill>
                  <a:schemeClr val="bg1"/>
                </a:solidFill>
              </a:rPr>
              <a:t>giả của </a:t>
            </a:r>
            <a:r>
              <a:rPr lang="en-US" sz="2000" b="1" dirty="0">
                <a:solidFill>
                  <a:schemeClr val="bg1"/>
                </a:solidFill>
              </a:rPr>
              <a:t>Information Theory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vi-VN" sz="2000" dirty="0">
                <a:solidFill>
                  <a:schemeClr val="bg1"/>
                </a:solidFill>
              </a:rPr>
              <a:t>đưa ra. 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6" name="Google Shape;425;p44"/>
          <p:cNvSpPr/>
          <p:nvPr/>
        </p:nvSpPr>
        <p:spPr>
          <a:xfrm>
            <a:off x="470407" y="1924361"/>
            <a:ext cx="3888540" cy="609600"/>
          </a:xfrm>
          <a:prstGeom prst="roundRect">
            <a:avLst>
              <a:gd name="adj" fmla="val 20280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2"/>
                </a:solidFill>
                <a:latin typeface="Quicksand" panose="020B0604020202020204" charset="0"/>
              </a:rPr>
              <a:t>BIẾN RỜI RẠC</a:t>
            </a:r>
            <a:endParaRPr sz="2000" b="1" dirty="0">
              <a:solidFill>
                <a:schemeClr val="bg2"/>
              </a:solidFill>
              <a:latin typeface="Quicksand" panose="020B0604020202020204" charset="0"/>
            </a:endParaRPr>
          </a:p>
        </p:txBody>
      </p:sp>
      <p:pic>
        <p:nvPicPr>
          <p:cNvPr id="7" name="Picture 6" descr="Text&#10;&#10;Description automatically generated with medium confidence">
            <a:extLst>
              <a:ext uri="{FF2B5EF4-FFF2-40B4-BE49-F238E27FC236}">
                <a16:creationId xmlns:a16="http://schemas.microsoft.com/office/drawing/2014/main" id="{873904EF-A611-9614-8574-5031501AB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33" y="2956844"/>
            <a:ext cx="3651117" cy="8000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sp>
        <p:nvSpPr>
          <p:cNvPr id="8" name="Google Shape;425;p44">
            <a:extLst>
              <a:ext uri="{FF2B5EF4-FFF2-40B4-BE49-F238E27FC236}">
                <a16:creationId xmlns:a16="http://schemas.microsoft.com/office/drawing/2014/main" id="{A664B3E3-0A95-176E-3407-2F9F44B393A3}"/>
              </a:ext>
            </a:extLst>
          </p:cNvPr>
          <p:cNvSpPr/>
          <p:nvPr/>
        </p:nvSpPr>
        <p:spPr>
          <a:xfrm>
            <a:off x="4596848" y="1915191"/>
            <a:ext cx="3888540" cy="609600"/>
          </a:xfrm>
          <a:prstGeom prst="roundRect">
            <a:avLst>
              <a:gd name="adj" fmla="val 20280"/>
            </a:avLst>
          </a:prstGeom>
          <a:ln>
            <a:headEnd type="none" w="sm" len="sm"/>
            <a:tailEnd type="none" w="sm" len="sm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2"/>
                </a:solidFill>
                <a:latin typeface="Quicksand" panose="020B0604020202020204" charset="0"/>
              </a:rPr>
              <a:t>BIẾN NGẪU NHIÊN RỜI RẠC</a:t>
            </a:r>
            <a:endParaRPr sz="2000" b="1" dirty="0">
              <a:solidFill>
                <a:schemeClr val="bg2"/>
              </a:solidFill>
              <a:latin typeface="Quicksand" panose="020B060402020202020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2F3BCF-148D-FC1F-5C8D-1785783E73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707" y="2953788"/>
            <a:ext cx="3491674" cy="80308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7EC23708-EC5D-BAA4-2B88-5611C22C6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3289" y="1915191"/>
            <a:ext cx="2940022" cy="2750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2979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51796"/>
            <a:ext cx="9905998" cy="1478570"/>
          </a:xfrm>
        </p:spPr>
        <p:txBody>
          <a:bodyPr/>
          <a:lstStyle/>
          <a:p>
            <a:r>
              <a:rPr lang="en-US" dirty="0" smtClean="0"/>
              <a:t>NHẮC LẠI VỀ PHÂN PHỐI GAMMA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796" y="1233243"/>
            <a:ext cx="9867614" cy="534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040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177944"/>
            <a:ext cx="9905998" cy="952587"/>
          </a:xfrm>
        </p:spPr>
        <p:txBody>
          <a:bodyPr/>
          <a:lstStyle/>
          <a:p>
            <a:r>
              <a:rPr lang="en-US" dirty="0" smtClean="0"/>
              <a:t>PHÂN PHỐI GAMMA (tiếp)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227" y="966337"/>
            <a:ext cx="8418368" cy="580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808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068966"/>
          </a:xfrm>
        </p:spPr>
        <p:txBody>
          <a:bodyPr/>
          <a:lstStyle/>
          <a:p>
            <a:r>
              <a:rPr lang="en-US" b="1" dirty="0" smtClean="0"/>
              <a:t>HÌNH DẠNG VÀ TỶ LỆ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50" y="1815003"/>
            <a:ext cx="5466647" cy="441068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6727" y="1814585"/>
            <a:ext cx="5776044" cy="441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458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152093"/>
          </a:xfrm>
        </p:spPr>
        <p:txBody>
          <a:bodyPr/>
          <a:lstStyle/>
          <a:p>
            <a:r>
              <a:rPr lang="en-US" dirty="0" smtClean="0"/>
              <a:t>HÌNH DẠNG VÀ PHẠM VI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06028" y="1631646"/>
            <a:ext cx="5030003" cy="434520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247" y="1631647"/>
            <a:ext cx="5039115" cy="4345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877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181095"/>
            <a:ext cx="9905998" cy="1478570"/>
          </a:xfrm>
        </p:spPr>
        <p:txBody>
          <a:bodyPr/>
          <a:lstStyle/>
          <a:p>
            <a:r>
              <a:rPr lang="en-US" dirty="0" smtClean="0"/>
              <a:t>Nhắc lại về phân phối chuẩn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2" y="1494496"/>
            <a:ext cx="10283892" cy="4742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941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Chú ý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 smtClean="0"/>
              <a:t>Khi </a:t>
            </a:r>
            <a:r>
              <a:rPr lang="en-US" dirty="0" smtClean="0"/>
              <a:t>a, b &gt;= 10,</a:t>
            </a:r>
            <a:r>
              <a:rPr lang="vi-VN" dirty="0" smtClean="0"/>
              <a:t> </a:t>
            </a:r>
            <a:r>
              <a:rPr lang="vi-VN" dirty="0"/>
              <a:t>phân phối Beta sẽ xấp xỉ với phân phối chuẩn.</a:t>
            </a:r>
          </a:p>
          <a:p>
            <a:pPr algn="just"/>
            <a:r>
              <a:rPr lang="en-US" dirty="0" smtClean="0"/>
              <a:t>Vì các đặc trưng của hàm PDF, ng</a:t>
            </a:r>
            <a:r>
              <a:rPr lang="vi-VN" dirty="0" smtClean="0"/>
              <a:t>ười </a:t>
            </a:r>
            <a:r>
              <a:rPr lang="vi-VN" dirty="0"/>
              <a:t>ta không bao giờ xấp xỉ phân phối Gamma bởi phân phối chuẩn</a:t>
            </a:r>
            <a:r>
              <a:rPr lang="vi-VN" dirty="0" smtClean="0"/>
              <a:t>.</a:t>
            </a:r>
            <a:endParaRPr lang="en-US" dirty="0" smtClean="0"/>
          </a:p>
          <a:p>
            <a:pPr algn="just"/>
            <a:r>
              <a:rPr lang="en-US" dirty="0" smtClean="0"/>
              <a:t>Khi n phân phối có tính chất iid (identical, independence distribution) với n &gt;= 25 thì tổng của chúng sẽ được xấp xỉ tốt bởi phân phối chuẩn.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4846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249" y="289387"/>
            <a:ext cx="10810875" cy="622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477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LIÊN HỢP TRONG BAYESIAN LÀ GÌ?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vi-VN" dirty="0">
                <a:sym typeface="Mathematica1" panose="05000502060100000001" pitchFamily="2" charset="2"/>
              </a:rPr>
              <a:t>Một họ các phân phối tiên nghiệm pi được gọi là liên hợp với mô hình f(x | theta) nếu </a:t>
            </a:r>
            <a:r>
              <a:rPr lang="vi-VN" dirty="0" smtClean="0">
                <a:sym typeface="Mathematica1" panose="05000502060100000001" pitchFamily="2" charset="2"/>
              </a:rPr>
              <a:t>phân </a:t>
            </a:r>
            <a:r>
              <a:rPr lang="vi-VN" dirty="0">
                <a:sym typeface="Mathematica1" panose="05000502060100000001" pitchFamily="2" charset="2"/>
              </a:rPr>
              <a:t>phối hậu nghiệm của chúng cũng thuộc họ đó</a:t>
            </a:r>
            <a:r>
              <a:rPr lang="vi-VN" dirty="0" smtClean="0">
                <a:sym typeface="Mathematica1" panose="05000502060100000001" pitchFamily="2" charset="2"/>
              </a:rPr>
              <a:t>.</a:t>
            </a:r>
            <a:endParaRPr lang="en-US" dirty="0" smtClean="0">
              <a:sym typeface="Mathematica1" panose="05000502060100000001" pitchFamily="2" charset="2"/>
            </a:endParaRPr>
          </a:p>
          <a:p>
            <a:pPr marL="0" indent="0" algn="just">
              <a:buNone/>
            </a:pPr>
            <a:r>
              <a:rPr lang="en-US" dirty="0" smtClean="0">
                <a:sym typeface="Mathematica1" panose="05000502060100000001" pitchFamily="2" charset="2"/>
              </a:rPr>
              <a:t>Ta có 3 họ liên hợp cơ bản:</a:t>
            </a:r>
          </a:p>
          <a:p>
            <a:pPr marL="457200" indent="-457200" algn="just">
              <a:buAutoNum type="arabicParenR"/>
            </a:pPr>
            <a:r>
              <a:rPr lang="en-US" dirty="0" smtClean="0">
                <a:sym typeface="Mathematica1" panose="05000502060100000001" pitchFamily="2" charset="2"/>
              </a:rPr>
              <a:t>Họ Gamma liên hợp với mô hình Poisson.</a:t>
            </a:r>
          </a:p>
          <a:p>
            <a:pPr marL="457200" indent="-457200" algn="just">
              <a:buAutoNum type="arabicParenR"/>
            </a:pPr>
            <a:r>
              <a:rPr lang="en-US" dirty="0" smtClean="0">
                <a:sym typeface="Mathematica1" panose="05000502060100000001" pitchFamily="2" charset="2"/>
              </a:rPr>
              <a:t>Họ Beta liên hợp với mô hình nhị thức.</a:t>
            </a:r>
          </a:p>
          <a:p>
            <a:pPr marL="457200" indent="-457200" algn="just">
              <a:buAutoNum type="arabicParenR"/>
            </a:pPr>
            <a:r>
              <a:rPr lang="en-US" dirty="0" smtClean="0">
                <a:sym typeface="Mathematica1" panose="05000502060100000001" pitchFamily="2" charset="2"/>
              </a:rPr>
              <a:t>Họ Chuẩn liên hợp với mô hình chuẩn.</a:t>
            </a:r>
          </a:p>
          <a:p>
            <a:pPr marL="0" indent="0" algn="just">
              <a:buNone/>
            </a:pPr>
            <a:endParaRPr lang="en-US" dirty="0" smtClean="0">
              <a:sym typeface="Mathematica1" panose="05000502060100000001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572504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GAMMA ~ POISSON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141" y="2074608"/>
            <a:ext cx="8774642" cy="3891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878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GAMMA ~ </a:t>
            </a:r>
            <a:r>
              <a:rPr lang="en-US" b="1" dirty="0" smtClean="0"/>
              <a:t>POISSON (cont)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2" y="2182985"/>
            <a:ext cx="9737725" cy="3904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949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Nhận xét – ví dụ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409" y="2190720"/>
            <a:ext cx="9723281" cy="3021359"/>
          </a:xfrm>
        </p:spPr>
      </p:pic>
    </p:spTree>
    <p:extLst>
      <p:ext uri="{BB962C8B-B14F-4D97-AF65-F5344CB8AC3E}">
        <p14:creationId xmlns:p14="http://schemas.microsoft.com/office/powerpoint/2010/main" val="4293355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358" y="492743"/>
            <a:ext cx="9234424" cy="6024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3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972" y="253624"/>
            <a:ext cx="10401300" cy="633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525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215" y="441440"/>
            <a:ext cx="9916993" cy="5734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128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466" y="532015"/>
            <a:ext cx="9958155" cy="5661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865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2" y="415636"/>
            <a:ext cx="10278182" cy="603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002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736" y="448886"/>
            <a:ext cx="10381349" cy="5791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522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583" y="251874"/>
            <a:ext cx="9843828" cy="5906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580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886" y="415290"/>
            <a:ext cx="10036234" cy="5842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666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425" y="332510"/>
            <a:ext cx="9793986" cy="5768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077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Beta ~ nhị thức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518" y="1858789"/>
            <a:ext cx="6732469" cy="4733204"/>
          </a:xfrm>
        </p:spPr>
      </p:pic>
    </p:spTree>
    <p:extLst>
      <p:ext uri="{BB962C8B-B14F-4D97-AF65-F5344CB8AC3E}">
        <p14:creationId xmlns:p14="http://schemas.microsoft.com/office/powerpoint/2010/main" val="3333414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CHUẨN ~ CHUẨN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353" y="1912726"/>
            <a:ext cx="9403946" cy="4514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273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2241174"/>
            <a:ext cx="9905999" cy="3541714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2" y="982287"/>
            <a:ext cx="93726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1948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ƯỚC LƯỢNG BAYES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897" y="2097088"/>
            <a:ext cx="10721939" cy="3694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5953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222" y="525982"/>
            <a:ext cx="10128625" cy="5892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5345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Ví dụ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564" y="1986696"/>
            <a:ext cx="9073267" cy="4040031"/>
          </a:xfrm>
        </p:spPr>
      </p:pic>
    </p:spTree>
    <p:extLst>
      <p:ext uri="{BB962C8B-B14F-4D97-AF65-F5344CB8AC3E}">
        <p14:creationId xmlns:p14="http://schemas.microsoft.com/office/powerpoint/2010/main" val="26873813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1726</TotalTime>
  <Words>303</Words>
  <Application>Microsoft Office PowerPoint</Application>
  <PresentationFormat>Widescreen</PresentationFormat>
  <Paragraphs>35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Mathematica1</vt:lpstr>
      <vt:lpstr>Quicksand</vt:lpstr>
      <vt:lpstr>Trebuchet MS</vt:lpstr>
      <vt:lpstr>Tw Cen MT</vt:lpstr>
      <vt:lpstr>UVN Saigon</vt:lpstr>
      <vt:lpstr>Circuit</vt:lpstr>
      <vt:lpstr>các họ phân phối LIÊN HỢP</vt:lpstr>
      <vt:lpstr>Hàm gamma</vt:lpstr>
      <vt:lpstr>Nhắc lại về phân phối beta</vt:lpstr>
      <vt:lpstr>PowerPoint Presentation</vt:lpstr>
      <vt:lpstr>PowerPoint Presentation</vt:lpstr>
      <vt:lpstr>Entropy</vt:lpstr>
      <vt:lpstr>NHẮC LẠI VỀ PHÂN PHỐI GAMMA</vt:lpstr>
      <vt:lpstr>PHÂN PHỐI GAMMA (tiếp)</vt:lpstr>
      <vt:lpstr>HÌNH DẠNG VÀ TỶ LỆ</vt:lpstr>
      <vt:lpstr>HÌNH DẠNG VÀ PHẠM VI</vt:lpstr>
      <vt:lpstr>Nhắc lại về phân phối chuẩn</vt:lpstr>
      <vt:lpstr>Chú ý</vt:lpstr>
      <vt:lpstr>PowerPoint Presentation</vt:lpstr>
      <vt:lpstr>LIÊN HỢP TRONG BAYESIAN LÀ GÌ?</vt:lpstr>
      <vt:lpstr>GAMMA ~ POISSON</vt:lpstr>
      <vt:lpstr>GAMMA ~ POISSON (cont)</vt:lpstr>
      <vt:lpstr>Nhận xét – ví dụ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Beta ~ nhị thức</vt:lpstr>
      <vt:lpstr>CHUẨN ~ CHUẨN</vt:lpstr>
      <vt:lpstr>PowerPoint Presentation</vt:lpstr>
      <vt:lpstr>ƯỚC LƯỢNG BAYES</vt:lpstr>
      <vt:lpstr>PowerPoint Presentation</vt:lpstr>
      <vt:lpstr>Ví dụ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GIỚI THIỆU VỀ BAYESIAN ANALYSIS</dc:title>
  <dc:creator>Lữ Lê Phúc</dc:creator>
  <cp:lastModifiedBy>Lữ Lê Phúc</cp:lastModifiedBy>
  <cp:revision>128</cp:revision>
  <dcterms:created xsi:type="dcterms:W3CDTF">2022-08-11T15:14:01Z</dcterms:created>
  <dcterms:modified xsi:type="dcterms:W3CDTF">2022-09-14T07:51:25Z</dcterms:modified>
</cp:coreProperties>
</file>