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1" r:id="rId1"/>
  </p:sldMasterIdLst>
  <p:sldIdLst>
    <p:sldId id="256" r:id="rId2"/>
    <p:sldId id="257" r:id="rId3"/>
    <p:sldId id="263" r:id="rId4"/>
    <p:sldId id="258" r:id="rId5"/>
    <p:sldId id="259" r:id="rId6"/>
    <p:sldId id="260" r:id="rId7"/>
    <p:sldId id="261" r:id="rId8"/>
    <p:sldId id="279" r:id="rId9"/>
    <p:sldId id="278" r:id="rId10"/>
    <p:sldId id="264" r:id="rId11"/>
    <p:sldId id="262" r:id="rId12"/>
    <p:sldId id="265" r:id="rId13"/>
    <p:sldId id="271" r:id="rId14"/>
    <p:sldId id="272" r:id="rId15"/>
    <p:sldId id="274" r:id="rId16"/>
    <p:sldId id="273" r:id="rId17"/>
    <p:sldId id="275" r:id="rId18"/>
    <p:sldId id="276" r:id="rId19"/>
    <p:sldId id="277" r:id="rId20"/>
    <p:sldId id="269" r:id="rId21"/>
    <p:sldId id="270" r:id="rId22"/>
    <p:sldId id="266" r:id="rId23"/>
    <p:sldId id="267" r:id="rId24"/>
    <p:sldId id="268"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50" d="100"/>
          <a:sy n="50" d="100"/>
        </p:scale>
        <p:origin x="1176" y="6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7B005785-1C94-4EA9-B929-2CCD955333F7}" type="datetimeFigureOut">
              <a:rPr lang="en-US" smtClean="0"/>
              <a:t>17/8/2022</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32081307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B005785-1C94-4EA9-B929-2CCD955333F7}" type="datetimeFigureOut">
              <a:rPr lang="en-US" smtClean="0"/>
              <a:t>17/8/2022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4076108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B005785-1C94-4EA9-B929-2CCD955333F7}" type="datetimeFigureOut">
              <a:rPr lang="en-US" smtClean="0"/>
              <a:t>17/8/2022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30289375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7B005785-1C94-4EA9-B929-2CCD955333F7}" type="datetimeFigureOut">
              <a:rPr lang="en-US" smtClean="0"/>
              <a:t>17/8/2022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17557073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7B005785-1C94-4EA9-B929-2CCD955333F7}" type="datetimeFigureOut">
              <a:rPr lang="en-US" smtClean="0"/>
              <a:t>17/8/2022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28987653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B005785-1C94-4EA9-B929-2CCD955333F7}" type="datetimeFigureOut">
              <a:rPr lang="en-US" smtClean="0"/>
              <a:t>17/8/2022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34009763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005785-1C94-4EA9-B929-2CCD955333F7}" type="datetimeFigureOut">
              <a:rPr lang="en-US" smtClean="0"/>
              <a:t>17/8/2022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35672354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B005785-1C94-4EA9-B929-2CCD955333F7}" type="datetimeFigureOut">
              <a:rPr lang="en-US" smtClean="0"/>
              <a:t>17/8/2022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2811481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B005785-1C94-4EA9-B929-2CCD955333F7}" type="datetimeFigureOut">
              <a:rPr lang="en-US" smtClean="0"/>
              <a:t>17/8/2022</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19683660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smtClean="0"/>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B005785-1C94-4EA9-B929-2CCD955333F7}" type="datetimeFigureOut">
              <a:rPr lang="en-US" smtClean="0"/>
              <a:t>17/8/2022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23559800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B005785-1C94-4EA9-B929-2CCD955333F7}" type="datetimeFigureOut">
              <a:rPr lang="en-US" smtClean="0"/>
              <a:t>17/8/2022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3779487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B005785-1C94-4EA9-B929-2CCD955333F7}" type="datetimeFigureOut">
              <a:rPr lang="en-US" smtClean="0"/>
              <a:t>17/8/2022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BFB1E8-4A6F-4D0D-9F94-8F8A42A69B09}"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7856778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B005785-1C94-4EA9-B929-2CCD955333F7}" type="datetimeFigureOut">
              <a:rPr lang="en-US" smtClean="0"/>
              <a:t>17/8/2022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8307130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7B005785-1C94-4EA9-B929-2CCD955333F7}" type="datetimeFigureOut">
              <a:rPr lang="en-US" smtClean="0"/>
              <a:t>17/8/2022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23425995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7B005785-1C94-4EA9-B929-2CCD955333F7}" type="datetimeFigureOut">
              <a:rPr lang="en-US" smtClean="0"/>
              <a:t>17/8/2022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17129389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B005785-1C94-4EA9-B929-2CCD955333F7}" type="datetimeFigureOut">
              <a:rPr lang="en-US" smtClean="0"/>
              <a:t>17/8/2022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8398035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B005785-1C94-4EA9-B929-2CCD955333F7}" type="datetimeFigureOut">
              <a:rPr lang="en-US" smtClean="0"/>
              <a:t>17/8/2022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31999716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7B005785-1C94-4EA9-B929-2CCD955333F7}" type="datetimeFigureOut">
              <a:rPr lang="en-US" smtClean="0"/>
              <a:t>17/8/2022</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ABFB1E8-4A6F-4D0D-9F94-8F8A42A69B09}" type="slidenum">
              <a:rPr lang="en-US" smtClean="0"/>
              <a:t>‹#›</a:t>
            </a:fld>
            <a:endParaRPr lang="en-US"/>
          </a:p>
        </p:txBody>
      </p:sp>
    </p:spTree>
    <p:extLst>
      <p:ext uri="{BB962C8B-B14F-4D97-AF65-F5344CB8AC3E}">
        <p14:creationId xmlns:p14="http://schemas.microsoft.com/office/powerpoint/2010/main" val="1128980200"/>
      </p:ext>
    </p:extLst>
  </p:cSld>
  <p:clrMap bg1="dk1" tx1="lt1" bg2="dk2" tx2="lt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 id="2147483843" r:id="rId12"/>
    <p:sldLayoutId id="2147483844" r:id="rId13"/>
    <p:sldLayoutId id="2147483845" r:id="rId14"/>
    <p:sldLayoutId id="2147483846" r:id="rId15"/>
    <p:sldLayoutId id="2147483847" r:id="rId16"/>
    <p:sldLayoutId id="2147483848"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drive.google.com/drive/u/0/folders/1KffVDNU2_Hy5jHfc0oS8GhyykUNKTJ70"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b="1" dirty="0" smtClean="0">
                <a:latin typeface="UVN Saigon" panose="00000400000000000000" pitchFamily="2" charset="0"/>
              </a:rPr>
              <a:t>GIỚI THIỆU VỀ</a:t>
            </a:r>
            <a:br>
              <a:rPr lang="en-US" b="1" dirty="0" smtClean="0">
                <a:latin typeface="UVN Saigon" panose="00000400000000000000" pitchFamily="2" charset="0"/>
              </a:rPr>
            </a:br>
            <a:r>
              <a:rPr lang="en-US" b="1" dirty="0" smtClean="0">
                <a:latin typeface="UVN Saigon" panose="00000400000000000000" pitchFamily="2" charset="0"/>
              </a:rPr>
              <a:t>SUY LUẬN BAYESIAN</a:t>
            </a:r>
            <a:endParaRPr lang="en-US" b="1" dirty="0">
              <a:latin typeface="UVN Saigon" panose="00000400000000000000" pitchFamily="2" charset="0"/>
            </a:endParaRPr>
          </a:p>
        </p:txBody>
      </p:sp>
      <p:sp>
        <p:nvSpPr>
          <p:cNvPr id="3" name="Subtitle 2"/>
          <p:cNvSpPr>
            <a:spLocks noGrp="1"/>
          </p:cNvSpPr>
          <p:nvPr>
            <p:ph type="subTitle" idx="1"/>
          </p:nvPr>
        </p:nvSpPr>
        <p:spPr>
          <a:xfrm>
            <a:off x="2211983" y="3942631"/>
            <a:ext cx="8791575" cy="1655762"/>
          </a:xfrm>
        </p:spPr>
        <p:txBody>
          <a:bodyPr>
            <a:normAutofit/>
          </a:bodyPr>
          <a:lstStyle/>
          <a:p>
            <a:pPr algn="ctr"/>
            <a:r>
              <a:rPr lang="en-US" dirty="0" smtClean="0"/>
              <a:t>Lê Phúc Lữ, IUH 2022</a:t>
            </a:r>
          </a:p>
          <a:p>
            <a:pPr algn="ctr"/>
            <a:r>
              <a:rPr lang="en-US" dirty="0" smtClean="0"/>
              <a:t>Khoa học dữ liệu K15</a:t>
            </a:r>
            <a:endParaRPr lang="en-US" dirty="0"/>
          </a:p>
        </p:txBody>
      </p:sp>
    </p:spTree>
    <p:extLst>
      <p:ext uri="{BB962C8B-B14F-4D97-AF65-F5344CB8AC3E}">
        <p14:creationId xmlns:p14="http://schemas.microsoft.com/office/powerpoint/2010/main" val="83611871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Thông tin khóa học</a:t>
            </a:r>
            <a:endParaRPr lang="en-US" dirty="0"/>
          </a:p>
        </p:txBody>
      </p:sp>
      <p:sp>
        <p:nvSpPr>
          <p:cNvPr id="3" name="Content Placeholder 2"/>
          <p:cNvSpPr>
            <a:spLocks noGrp="1"/>
          </p:cNvSpPr>
          <p:nvPr>
            <p:ph idx="1"/>
          </p:nvPr>
        </p:nvSpPr>
        <p:spPr/>
        <p:txBody>
          <a:bodyPr>
            <a:normAutofit fontScale="77500" lnSpcReduction="20000"/>
          </a:bodyPr>
          <a:lstStyle/>
          <a:p>
            <a:r>
              <a:rPr lang="en-US" dirty="0"/>
              <a:t>Link tài </a:t>
            </a:r>
            <a:r>
              <a:rPr lang="en-US" dirty="0" smtClean="0"/>
              <a:t>liệu môn học: </a:t>
            </a:r>
            <a:r>
              <a:rPr lang="en-US" dirty="0">
                <a:hlinkClick r:id="rId2"/>
              </a:rPr>
              <a:t>https://</a:t>
            </a:r>
            <a:r>
              <a:rPr lang="en-US" dirty="0" smtClean="0">
                <a:hlinkClick r:id="rId2"/>
              </a:rPr>
              <a:t>drive.google.com/drive/u/0/folders/1KffVDNU2_Hy5jHfc0oS8GhyykUNKTJ70</a:t>
            </a:r>
            <a:endParaRPr lang="en-US" dirty="0" smtClean="0"/>
          </a:p>
          <a:p>
            <a:r>
              <a:rPr lang="en-US" dirty="0" smtClean="0"/>
              <a:t>Course book:</a:t>
            </a:r>
          </a:p>
          <a:p>
            <a:pPr marL="0" indent="0">
              <a:buNone/>
            </a:pPr>
            <a:r>
              <a:rPr lang="en-US" dirty="0"/>
              <a:t> </a:t>
            </a:r>
            <a:r>
              <a:rPr lang="en-US" dirty="0" smtClean="0"/>
              <a:t>  1) Bayesian </a:t>
            </a:r>
            <a:r>
              <a:rPr lang="en-US" dirty="0"/>
              <a:t>data analysis by A. Gelman, J. Carlin, H. Stern, D. Dunson, A. Vehtari,</a:t>
            </a:r>
          </a:p>
          <a:p>
            <a:pPr marL="0" indent="0">
              <a:buNone/>
            </a:pPr>
            <a:r>
              <a:rPr lang="en-US" dirty="0" smtClean="0"/>
              <a:t>   D</a:t>
            </a:r>
            <a:r>
              <a:rPr lang="en-US" dirty="0"/>
              <a:t>. Rubin, Chapman &amp; Hall.</a:t>
            </a:r>
          </a:p>
          <a:p>
            <a:pPr marL="0" indent="0">
              <a:buNone/>
            </a:pPr>
            <a:r>
              <a:rPr lang="en-US" dirty="0" smtClean="0"/>
              <a:t>   2) Bayesian </a:t>
            </a:r>
            <a:r>
              <a:rPr lang="en-US" dirty="0"/>
              <a:t>Statistical Modelling, Peter Congdon</a:t>
            </a:r>
          </a:p>
          <a:p>
            <a:pPr marL="0" indent="0">
              <a:buNone/>
            </a:pPr>
            <a:r>
              <a:rPr lang="en-US" dirty="0" smtClean="0"/>
              <a:t>   3) Bayesian </a:t>
            </a:r>
            <a:r>
              <a:rPr lang="en-US" dirty="0"/>
              <a:t>Statistics: an </a:t>
            </a:r>
            <a:r>
              <a:rPr lang="en-US" dirty="0" smtClean="0"/>
              <a:t>introduction</a:t>
            </a:r>
            <a:r>
              <a:rPr lang="en-US" dirty="0"/>
              <a:t>, Peter M. </a:t>
            </a:r>
            <a:r>
              <a:rPr lang="en-US" dirty="0" smtClean="0"/>
              <a:t>Lee</a:t>
            </a:r>
          </a:p>
          <a:p>
            <a:r>
              <a:rPr lang="en-US" dirty="0" smtClean="0"/>
              <a:t>Đánh giá: 20 % thường kỳ + 30 % giữa kỳ (thực hành) + 50% cuối kỳ (thực hành).</a:t>
            </a:r>
            <a:endParaRPr lang="en-US" dirty="0"/>
          </a:p>
          <a:p>
            <a:pPr marL="0" indent="0">
              <a:buNone/>
            </a:pPr>
            <a:endParaRPr lang="en-US" dirty="0" smtClean="0"/>
          </a:p>
        </p:txBody>
      </p:sp>
    </p:spTree>
    <p:extLst>
      <p:ext uri="{BB962C8B-B14F-4D97-AF65-F5344CB8AC3E}">
        <p14:creationId xmlns:p14="http://schemas.microsoft.com/office/powerpoint/2010/main" val="308990308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912167" y="1844190"/>
            <a:ext cx="7780056" cy="3757714"/>
          </a:xfrm>
          <a:prstGeom prst="rect">
            <a:avLst/>
          </a:prstGeom>
        </p:spPr>
      </p:pic>
    </p:spTree>
    <p:extLst>
      <p:ext uri="{BB962C8B-B14F-4D97-AF65-F5344CB8AC3E}">
        <p14:creationId xmlns:p14="http://schemas.microsoft.com/office/powerpoint/2010/main" val="310326360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GIỚI THIỆU</a:t>
            </a:r>
            <a:endParaRPr lang="en-US" dirty="0"/>
          </a:p>
        </p:txBody>
      </p:sp>
      <p:sp>
        <p:nvSpPr>
          <p:cNvPr id="3" name="Content Placeholder 2"/>
          <p:cNvSpPr>
            <a:spLocks noGrp="1"/>
          </p:cNvSpPr>
          <p:nvPr>
            <p:ph idx="1"/>
          </p:nvPr>
        </p:nvSpPr>
        <p:spPr/>
        <p:txBody>
          <a:bodyPr>
            <a:normAutofit lnSpcReduction="10000"/>
          </a:bodyPr>
          <a:lstStyle/>
          <a:p>
            <a:pPr algn="just"/>
            <a:r>
              <a:rPr lang="vi-VN" dirty="0"/>
              <a:t>Bayesian: đặt tên theo nhà Toán học Thomas Bayes (1702 - 1761).</a:t>
            </a:r>
            <a:r>
              <a:rPr lang="en-US" dirty="0"/>
              <a:t> </a:t>
            </a:r>
            <a:r>
              <a:rPr lang="vi-VN" dirty="0"/>
              <a:t>Ông là một bộ trưởng nhưng lại có đam mê Toán học, được kết nạp vào hội Hoàng gia London vào 1742. Nhiều nghiên cứu của ông được công bố </a:t>
            </a:r>
            <a:r>
              <a:rPr lang="vi-VN" dirty="0" smtClean="0"/>
              <a:t>mãi </a:t>
            </a:r>
            <a:r>
              <a:rPr lang="vi-VN" dirty="0"/>
              <a:t>sau khi ông mất.</a:t>
            </a:r>
          </a:p>
          <a:p>
            <a:pPr algn="just"/>
            <a:r>
              <a:rPr lang="vi-VN" dirty="0" smtClean="0"/>
              <a:t>Để </a:t>
            </a:r>
            <a:r>
              <a:rPr lang="vi-VN" dirty="0"/>
              <a:t>bắt đầu, ta hình dung rằng suy luận Bayes (Bayesian inference - BI) nghiên cứu một cách tiếp cận khác biệt so với thống kê truyền thống, cổ điển và sẽ có chút khó khăn cho những ai quen với cách tư duy cũ. Đây là một công cụ quan trọng của khoa học thống kê</a:t>
            </a:r>
            <a:r>
              <a:rPr lang="vi-VN" dirty="0" smtClean="0"/>
              <a:t>.</a:t>
            </a:r>
            <a:endParaRPr lang="vi-VN" dirty="0"/>
          </a:p>
        </p:txBody>
      </p:sp>
    </p:spTree>
    <p:extLst>
      <p:ext uri="{BB962C8B-B14F-4D97-AF65-F5344CB8AC3E}">
        <p14:creationId xmlns:p14="http://schemas.microsoft.com/office/powerpoint/2010/main" val="257250406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GIỚI THIỆU</a:t>
            </a:r>
            <a:endParaRPr lang="en-US" dirty="0"/>
          </a:p>
        </p:txBody>
      </p:sp>
      <p:sp>
        <p:nvSpPr>
          <p:cNvPr id="3" name="Content Placeholder 2"/>
          <p:cNvSpPr>
            <a:spLocks noGrp="1"/>
          </p:cNvSpPr>
          <p:nvPr>
            <p:ph idx="1"/>
          </p:nvPr>
        </p:nvSpPr>
        <p:spPr/>
        <p:txBody>
          <a:bodyPr>
            <a:normAutofit fontScale="92500" lnSpcReduction="10000"/>
          </a:bodyPr>
          <a:lstStyle/>
          <a:p>
            <a:pPr algn="just"/>
            <a:r>
              <a:rPr lang="vi-VN" dirty="0" smtClean="0"/>
              <a:t>Công </a:t>
            </a:r>
            <a:r>
              <a:rPr lang="vi-VN" dirty="0"/>
              <a:t>cụ chính trong BI là "định lý Bayes", và người ta sẽ tổng hợp "</a:t>
            </a:r>
            <a:r>
              <a:rPr lang="vi-VN" b="1" dirty="0"/>
              <a:t>thông tin tiên nghiệm</a:t>
            </a:r>
            <a:r>
              <a:rPr lang="vi-VN" dirty="0"/>
              <a:t>" và "</a:t>
            </a:r>
            <a:r>
              <a:rPr lang="vi-VN" b="1" dirty="0"/>
              <a:t>dữ liệu mẫu</a:t>
            </a:r>
            <a:r>
              <a:rPr lang="vi-VN" dirty="0"/>
              <a:t>" để có thể kết luận về các tham số đang cần quan tâm. Trong khi đó, thống kê truyền thống cần chỉ ra một phân bố xác suất cụ thể cho các tham số đó</a:t>
            </a:r>
            <a:r>
              <a:rPr lang="vi-VN" dirty="0" smtClean="0"/>
              <a:t>.</a:t>
            </a:r>
            <a:endParaRPr lang="en-US" dirty="0" smtClean="0"/>
          </a:p>
          <a:p>
            <a:pPr algn="just"/>
            <a:r>
              <a:rPr lang="vi-VN" dirty="0"/>
              <a:t>Một cách ngắn gọn, BI sử dụng định lý Bayes để cập nhật xác suất cho một giả thiết theo hướng: đáng tin cậy hơn / các thông tin rõ ràng hơn. BI có ứng dụng trong các lĩnh vực: decision theory, estimation and prediction, machine intelligence, expert systems, medical imaging, pattern recognition, data compression and coding, bioinformatics, and data mining.</a:t>
            </a:r>
            <a:endParaRPr lang="en-US" dirty="0"/>
          </a:p>
          <a:p>
            <a:pPr algn="just"/>
            <a:endParaRPr lang="vi-VN" dirty="0"/>
          </a:p>
          <a:p>
            <a:endParaRPr lang="vi-VN" dirty="0"/>
          </a:p>
          <a:p>
            <a:endParaRPr lang="vi-VN" dirty="0"/>
          </a:p>
          <a:p>
            <a:endParaRPr lang="en-US" dirty="0"/>
          </a:p>
        </p:txBody>
      </p:sp>
    </p:spTree>
    <p:extLst>
      <p:ext uri="{BB962C8B-B14F-4D97-AF65-F5344CB8AC3E}">
        <p14:creationId xmlns:p14="http://schemas.microsoft.com/office/powerpoint/2010/main" val="211632000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Phân loại cách tính xác suất</a:t>
            </a:r>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540040" y="1909048"/>
            <a:ext cx="8826368" cy="4532970"/>
          </a:xfrm>
          <a:prstGeom prst="rect">
            <a:avLst/>
          </a:prstGeom>
        </p:spPr>
      </p:pic>
    </p:spTree>
    <p:extLst>
      <p:ext uri="{BB962C8B-B14F-4D97-AF65-F5344CB8AC3E}">
        <p14:creationId xmlns:p14="http://schemas.microsoft.com/office/powerpoint/2010/main" val="124934624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Frequentist/conventional/classical</a:t>
            </a:r>
            <a:endParaRPr lang="en-US" dirty="0"/>
          </a:p>
        </p:txBody>
      </p:sp>
      <p:sp>
        <p:nvSpPr>
          <p:cNvPr id="3" name="Content Placeholder 2"/>
          <p:cNvSpPr>
            <a:spLocks noGrp="1"/>
          </p:cNvSpPr>
          <p:nvPr>
            <p:ph idx="1"/>
          </p:nvPr>
        </p:nvSpPr>
        <p:spPr>
          <a:xfrm>
            <a:off x="1141412" y="2097088"/>
            <a:ext cx="9905999" cy="4188209"/>
          </a:xfrm>
        </p:spPr>
        <p:txBody>
          <a:bodyPr>
            <a:normAutofit/>
          </a:bodyPr>
          <a:lstStyle/>
          <a:p>
            <a:pPr algn="just"/>
            <a:r>
              <a:rPr lang="vi-VN" dirty="0" smtClean="0">
                <a:latin typeface="Tw Cent MT"/>
              </a:rPr>
              <a:t>Cách tiếp cận </a:t>
            </a:r>
            <a:r>
              <a:rPr lang="en-US" dirty="0" smtClean="0">
                <a:latin typeface="Tw Cent MT"/>
              </a:rPr>
              <a:t>f</a:t>
            </a:r>
            <a:r>
              <a:rPr lang="vi-VN" dirty="0" smtClean="0">
                <a:latin typeface="Tw Cent MT"/>
              </a:rPr>
              <a:t>requentist/conventional/classical sẽ xem xác suất như</a:t>
            </a:r>
            <a:r>
              <a:rPr lang="en-US" dirty="0" smtClean="0">
                <a:latin typeface="Tw Cent MT"/>
              </a:rPr>
              <a:t> một</a:t>
            </a:r>
            <a:r>
              <a:rPr lang="vi-VN" dirty="0" smtClean="0">
                <a:latin typeface="Tw Cent MT"/>
              </a:rPr>
              <a:t>: the long-run relative frequency of an event that can be repeated.</a:t>
            </a:r>
            <a:endParaRPr lang="en-US" dirty="0" smtClean="0">
              <a:latin typeface="Tw Cent MT"/>
            </a:endParaRPr>
          </a:p>
          <a:p>
            <a:pPr algn="just"/>
            <a:r>
              <a:rPr lang="en-US" dirty="0" smtClean="0"/>
              <a:t>Các tham số (parameters) là cố định nhưng không rõ giá trị. Dữ liệu được lấy từ các distribution theo dạng biết trước nhưng unknown parameter và các distribution thường được phát sinh một cách ngẫu </a:t>
            </a:r>
            <a:r>
              <a:rPr lang="en-US" dirty="0" smtClean="0"/>
              <a:t>nhiên.</a:t>
            </a:r>
            <a:endParaRPr lang="en-US" dirty="0" smtClean="0"/>
          </a:p>
          <a:p>
            <a:pPr algn="just"/>
            <a:r>
              <a:rPr lang="en-US" dirty="0" smtClean="0"/>
              <a:t>Các suy luận (inference) áp dụng ở đây thì cần giả định rằng các data cũng ngẫu nhiên và các mẫu được lặp đi lặp lại.</a:t>
            </a:r>
            <a:endParaRPr lang="vi-VN" dirty="0"/>
          </a:p>
          <a:p>
            <a:pPr marL="0" indent="0">
              <a:buNone/>
            </a:pPr>
            <a:endParaRPr lang="vi-VN" dirty="0"/>
          </a:p>
          <a:p>
            <a:endParaRPr lang="en-US" dirty="0"/>
          </a:p>
        </p:txBody>
      </p:sp>
    </p:spTree>
    <p:extLst>
      <p:ext uri="{BB962C8B-B14F-4D97-AF65-F5344CB8AC3E}">
        <p14:creationId xmlns:p14="http://schemas.microsoft.com/office/powerpoint/2010/main" val="298752692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SUBJECTIVE/BAYESIAN INFERENCE</a:t>
            </a:r>
            <a:endParaRPr lang="en-US" dirty="0"/>
          </a:p>
        </p:txBody>
      </p:sp>
      <p:sp>
        <p:nvSpPr>
          <p:cNvPr id="3" name="Content Placeholder 2"/>
          <p:cNvSpPr>
            <a:spLocks noGrp="1"/>
          </p:cNvSpPr>
          <p:nvPr>
            <p:ph idx="1"/>
          </p:nvPr>
        </p:nvSpPr>
        <p:spPr/>
        <p:txBody>
          <a:bodyPr>
            <a:normAutofit fontScale="92500" lnSpcReduction="10000"/>
          </a:bodyPr>
          <a:lstStyle/>
          <a:p>
            <a:pPr algn="just"/>
            <a:r>
              <a:rPr lang="vi-VN" dirty="0"/>
              <a:t>Cách tiếp cận "Bayesian" sẽ xem xác suất như: the relative plausibility of an event, the represents degrees of belief (plausibility, confidence, credibility, certainty). Ở đây, mọi xác suất đều là xác suất có điều kiện. Xác suất ta gán cho một biến cố nào đó luôn luôn phụ thuộc vào các thông tin liên quan. Ta biết rằng P(E|H) = is a number that measures your belief in the truth of event E given the knowledge (information) that H is true</a:t>
            </a:r>
            <a:r>
              <a:rPr lang="vi-VN" dirty="0" smtClean="0"/>
              <a:t>.</a:t>
            </a:r>
            <a:endParaRPr lang="en-US" dirty="0" smtClean="0"/>
          </a:p>
          <a:p>
            <a:pPr algn="just"/>
            <a:r>
              <a:rPr lang="en-US" dirty="0" smtClean="0"/>
              <a:t>Các tham số ở đây sẽ là các biến ngẫu nhiên và phân bố xác suất sẽ xem xét trên các tham số đó. Việc inference sẽ dựa trên các prior </a:t>
            </a:r>
            <a:r>
              <a:rPr lang="en-US" dirty="0"/>
              <a:t>distribution </a:t>
            </a:r>
            <a:r>
              <a:rPr lang="en-US" dirty="0" smtClean="0"/>
              <a:t>và observed </a:t>
            </a:r>
            <a:r>
              <a:rPr lang="en-US" dirty="0"/>
              <a:t>data.</a:t>
            </a:r>
          </a:p>
          <a:p>
            <a:endParaRPr lang="en-US" dirty="0"/>
          </a:p>
        </p:txBody>
      </p:sp>
    </p:spTree>
    <p:extLst>
      <p:ext uri="{BB962C8B-B14F-4D97-AF65-F5344CB8AC3E}">
        <p14:creationId xmlns:p14="http://schemas.microsoft.com/office/powerpoint/2010/main" val="34334940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 SÁNH 2 CÁCH TIẾP CẬN</a:t>
            </a:r>
            <a:endParaRPr lang="en-US" dirty="0"/>
          </a:p>
        </p:txBody>
      </p:sp>
      <p:sp>
        <p:nvSpPr>
          <p:cNvPr id="3" name="Content Placeholder 2"/>
          <p:cNvSpPr>
            <a:spLocks noGrp="1"/>
          </p:cNvSpPr>
          <p:nvPr>
            <p:ph idx="1"/>
          </p:nvPr>
        </p:nvSpPr>
        <p:spPr>
          <a:xfrm>
            <a:off x="1141412" y="1867301"/>
            <a:ext cx="9905999" cy="4629752"/>
          </a:xfrm>
        </p:spPr>
        <p:txBody>
          <a:bodyPr>
            <a:normAutofit fontScale="85000" lnSpcReduction="20000"/>
          </a:bodyPr>
          <a:lstStyle/>
          <a:p>
            <a:r>
              <a:rPr lang="en-US" dirty="0"/>
              <a:t>Theo kiểu Frequentist/conventional/classical:</a:t>
            </a:r>
          </a:p>
          <a:p>
            <a:pPr marL="0" indent="0">
              <a:buNone/>
            </a:pPr>
            <a:r>
              <a:rPr lang="en-US" dirty="0" smtClean="0"/>
              <a:t>- </a:t>
            </a:r>
            <a:r>
              <a:rPr lang="en-US" dirty="0"/>
              <a:t>Parameters are fixed but unknown quantities.</a:t>
            </a:r>
          </a:p>
          <a:p>
            <a:pPr marL="0" indent="0">
              <a:buNone/>
            </a:pPr>
            <a:r>
              <a:rPr lang="en-US" dirty="0"/>
              <a:t>- Data are drawn from a distribution of known form but with an unknown parameter and often this distribution arises from explicit randomization.</a:t>
            </a:r>
          </a:p>
          <a:p>
            <a:pPr marL="0" indent="0">
              <a:buNone/>
            </a:pPr>
            <a:r>
              <a:rPr lang="en-US" dirty="0"/>
              <a:t>- Inferences regard the data as random and repeated sampling is assumed.</a:t>
            </a:r>
          </a:p>
          <a:p>
            <a:r>
              <a:rPr lang="en-US" dirty="0" smtClean="0"/>
              <a:t>Theo </a:t>
            </a:r>
            <a:r>
              <a:rPr lang="en-US" dirty="0" smtClean="0"/>
              <a:t>kiểu Bayesian:</a:t>
            </a:r>
            <a:endParaRPr lang="en-US" dirty="0"/>
          </a:p>
          <a:p>
            <a:pPr marL="0" indent="0">
              <a:buNone/>
            </a:pPr>
            <a:r>
              <a:rPr lang="en-US" dirty="0"/>
              <a:t>- Parameters are random variables.</a:t>
            </a:r>
          </a:p>
          <a:p>
            <a:pPr marL="0" indent="0">
              <a:buNone/>
            </a:pPr>
            <a:r>
              <a:rPr lang="en-US" dirty="0"/>
              <a:t>- Probability distributions are assumed for the unknown parameters and for the observations (i.e. both parameters and observations are random quantities).</a:t>
            </a:r>
          </a:p>
          <a:p>
            <a:pPr marL="0" indent="0">
              <a:buNone/>
            </a:pPr>
            <a:r>
              <a:rPr lang="en-US" dirty="0"/>
              <a:t>- Inferences are based on the prior distribution and the observed data.</a:t>
            </a:r>
          </a:p>
        </p:txBody>
      </p:sp>
    </p:spTree>
    <p:extLst>
      <p:ext uri="{BB962C8B-B14F-4D97-AF65-F5344CB8AC3E}">
        <p14:creationId xmlns:p14="http://schemas.microsoft.com/office/powerpoint/2010/main" val="186765314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NHẮC LẠI MỘT SỐ CÔNG THỨC</a:t>
            </a:r>
            <a:endParaRPr lang="en-US" dirty="0"/>
          </a:p>
        </p:txBody>
      </p:sp>
      <p:sp>
        <p:nvSpPr>
          <p:cNvPr id="3" name="Content Placeholder 2"/>
          <p:cNvSpPr>
            <a:spLocks noGrp="1"/>
          </p:cNvSpPr>
          <p:nvPr>
            <p:ph idx="1"/>
          </p:nvPr>
        </p:nvSpPr>
        <p:spPr>
          <a:xfrm>
            <a:off x="1141413" y="2097088"/>
            <a:ext cx="9905999" cy="3997309"/>
          </a:xfrm>
        </p:spPr>
        <p:txBody>
          <a:bodyPr>
            <a:normAutofit fontScale="92500" lnSpcReduction="10000"/>
          </a:bodyPr>
          <a:lstStyle/>
          <a:p>
            <a:r>
              <a:rPr lang="en-US" dirty="0"/>
              <a:t>Chú ý rằng A, B độc lập khi và chỉ khi có một trong các điều sau:</a:t>
            </a:r>
          </a:p>
          <a:p>
            <a:pPr marL="0" indent="0" algn="ctr">
              <a:buNone/>
            </a:pPr>
            <a:r>
              <a:rPr lang="en-US" dirty="0"/>
              <a:t>P(A|B) = P(A), 	P(B|A) = P(B), 	P(AB) = P(A)P(B).</a:t>
            </a:r>
            <a:endParaRPr lang="vi-VN" dirty="0"/>
          </a:p>
          <a:p>
            <a:pPr marL="0" indent="0">
              <a:buNone/>
            </a:pPr>
            <a:r>
              <a:rPr lang="en-US" dirty="0" smtClean="0"/>
              <a:t>Cho các biến cố E, F, H, ta có</a:t>
            </a:r>
            <a:r>
              <a:rPr lang="vi-VN" dirty="0" smtClean="0"/>
              <a:t>:</a:t>
            </a:r>
            <a:endParaRPr lang="vi-VN" dirty="0"/>
          </a:p>
          <a:p>
            <a:pPr>
              <a:buFont typeface="Wingdings" panose="05000000000000000000" pitchFamily="2" charset="2"/>
              <a:buChar char="§"/>
            </a:pPr>
            <a:r>
              <a:rPr lang="en-US" dirty="0" smtClean="0"/>
              <a:t> </a:t>
            </a:r>
            <a:r>
              <a:rPr lang="vi-VN" dirty="0" smtClean="0"/>
              <a:t>0 </a:t>
            </a:r>
            <a:r>
              <a:rPr lang="vi-VN" dirty="0"/>
              <a:t>&lt;= P(E|H) &lt;= </a:t>
            </a:r>
            <a:r>
              <a:rPr lang="vi-VN" dirty="0" smtClean="0"/>
              <a:t>1</a:t>
            </a:r>
            <a:r>
              <a:rPr lang="en-US" dirty="0"/>
              <a:t> </a:t>
            </a:r>
            <a:r>
              <a:rPr lang="en-US" dirty="0" smtClean="0"/>
              <a:t>và </a:t>
            </a:r>
            <a:r>
              <a:rPr lang="vi-VN" dirty="0" smtClean="0"/>
              <a:t>P(H|H</a:t>
            </a:r>
            <a:r>
              <a:rPr lang="vi-VN" dirty="0"/>
              <a:t>) = </a:t>
            </a:r>
            <a:r>
              <a:rPr lang="vi-VN" dirty="0" smtClean="0"/>
              <a:t>1.</a:t>
            </a:r>
            <a:endParaRPr lang="en-US" dirty="0" smtClean="0"/>
          </a:p>
          <a:p>
            <a:pPr>
              <a:buFont typeface="Wingdings" panose="05000000000000000000" pitchFamily="2" charset="2"/>
              <a:buChar char="§"/>
            </a:pPr>
            <a:r>
              <a:rPr lang="en-US" dirty="0" smtClean="0"/>
              <a:t> </a:t>
            </a:r>
            <a:r>
              <a:rPr lang="vi-VN" dirty="0" smtClean="0"/>
              <a:t>P(E|H</a:t>
            </a:r>
            <a:r>
              <a:rPr lang="vi-VN" dirty="0"/>
              <a:t>)+P(E'|H) = 1.	</a:t>
            </a:r>
            <a:endParaRPr lang="en-US" dirty="0" smtClean="0"/>
          </a:p>
          <a:p>
            <a:pPr>
              <a:buFont typeface="Wingdings" panose="05000000000000000000" pitchFamily="2" charset="2"/>
              <a:buChar char="§"/>
            </a:pPr>
            <a:r>
              <a:rPr lang="en-US" dirty="0" smtClean="0"/>
              <a:t> </a:t>
            </a:r>
            <a:r>
              <a:rPr lang="vi-VN" dirty="0" smtClean="0"/>
              <a:t>P(</a:t>
            </a:r>
            <a:r>
              <a:rPr lang="en-US" dirty="0" smtClean="0"/>
              <a:t> </a:t>
            </a:r>
            <a:r>
              <a:rPr lang="vi-VN" dirty="0" smtClean="0"/>
              <a:t>E+F </a:t>
            </a:r>
            <a:r>
              <a:rPr lang="vi-VN" dirty="0"/>
              <a:t>| H) = P(E|H) + P(F|H) nếu E, F xung khắc</a:t>
            </a:r>
            <a:r>
              <a:rPr lang="vi-VN" dirty="0" smtClean="0"/>
              <a:t>.</a:t>
            </a:r>
            <a:endParaRPr lang="en-US" dirty="0" smtClean="0"/>
          </a:p>
          <a:p>
            <a:pPr>
              <a:buFont typeface="Wingdings" panose="05000000000000000000" pitchFamily="2" charset="2"/>
              <a:buChar char="§"/>
            </a:pPr>
            <a:r>
              <a:rPr lang="en-US" dirty="0" smtClean="0"/>
              <a:t>P(A|B) = P(AB) / P(B) </a:t>
            </a:r>
            <a:r>
              <a:rPr lang="en-US" dirty="0" smtClean="0">
                <a:sym typeface="Wingdings" panose="05000000000000000000" pitchFamily="2" charset="2"/>
              </a:rPr>
              <a:t> P(AB) = P(A|B).P(B).</a:t>
            </a:r>
            <a:endParaRPr lang="vi-VN" dirty="0"/>
          </a:p>
          <a:p>
            <a:pPr>
              <a:buFont typeface="Wingdings" panose="05000000000000000000" pitchFamily="2" charset="2"/>
              <a:buChar char="§"/>
            </a:pPr>
            <a:r>
              <a:rPr lang="en-US" dirty="0" smtClean="0"/>
              <a:t>P(H) = P(EH) + P(E’H) = P(H|E).P(E) +  P(H|E’).P(E’).</a:t>
            </a:r>
            <a:endParaRPr lang="en-US" dirty="0"/>
          </a:p>
        </p:txBody>
      </p:sp>
    </p:spTree>
    <p:extLst>
      <p:ext uri="{BB962C8B-B14F-4D97-AF65-F5344CB8AC3E}">
        <p14:creationId xmlns:p14="http://schemas.microsoft.com/office/powerpoint/2010/main" val="68319572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ĐỊNH LÝ BAYES</a:t>
            </a:r>
            <a:endParaRPr lang="en-US" dirty="0"/>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1732731" y="1981585"/>
            <a:ext cx="8402672" cy="4432326"/>
          </a:xfrm>
          <a:prstGeom prst="rect">
            <a:avLst/>
          </a:prstGeom>
        </p:spPr>
      </p:pic>
    </p:spTree>
    <p:extLst>
      <p:ext uri="{BB962C8B-B14F-4D97-AF65-F5344CB8AC3E}">
        <p14:creationId xmlns:p14="http://schemas.microsoft.com/office/powerpoint/2010/main" val="246988696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1038" y="357031"/>
            <a:ext cx="9905998" cy="1478570"/>
          </a:xfrm>
        </p:spPr>
        <p:txBody>
          <a:bodyPr/>
          <a:lstStyle/>
          <a:p>
            <a:r>
              <a:rPr lang="en-US" dirty="0" smtClean="0"/>
              <a:t>CONFUSION MATRIX</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59174" y="1835601"/>
            <a:ext cx="8013816" cy="4517072"/>
          </a:xfrm>
        </p:spPr>
      </p:pic>
    </p:spTree>
    <p:extLst>
      <p:ext uri="{BB962C8B-B14F-4D97-AF65-F5344CB8AC3E}">
        <p14:creationId xmlns:p14="http://schemas.microsoft.com/office/powerpoint/2010/main" val="265752569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156505"/>
            <a:ext cx="9905998" cy="1478570"/>
          </a:xfrm>
        </p:spPr>
        <p:txBody>
          <a:bodyPr/>
          <a:lstStyle/>
          <a:p>
            <a:r>
              <a:rPr lang="en-US" dirty="0" smtClean="0"/>
              <a:t>CÁC VÍ DỤ - VD 1</a:t>
            </a:r>
            <a:endParaRPr lang="en-US" dirty="0"/>
          </a:p>
        </p:txBody>
      </p:sp>
      <p:sp>
        <p:nvSpPr>
          <p:cNvPr id="3" name="Content Placeholder 2"/>
          <p:cNvSpPr>
            <a:spLocks noGrp="1"/>
          </p:cNvSpPr>
          <p:nvPr>
            <p:ph idx="1"/>
          </p:nvPr>
        </p:nvSpPr>
        <p:spPr>
          <a:xfrm>
            <a:off x="1141411" y="1383214"/>
            <a:ext cx="9905999" cy="3541714"/>
          </a:xfrm>
        </p:spPr>
        <p:txBody>
          <a:bodyPr/>
          <a:lstStyle/>
          <a:p>
            <a:pPr marL="0" indent="0" algn="just">
              <a:buNone/>
            </a:pPr>
            <a:r>
              <a:rPr lang="en-US" dirty="0" smtClean="0">
                <a:solidFill>
                  <a:schemeClr val="bg1"/>
                </a:solidFill>
              </a:rPr>
              <a:t>G</a:t>
            </a:r>
            <a:r>
              <a:rPr lang="vi-VN" dirty="0" smtClean="0">
                <a:solidFill>
                  <a:schemeClr val="bg1"/>
                </a:solidFill>
              </a:rPr>
              <a:t>iả </a:t>
            </a:r>
            <a:r>
              <a:rPr lang="vi-VN" dirty="0">
                <a:solidFill>
                  <a:schemeClr val="bg1"/>
                </a:solidFill>
              </a:rPr>
              <a:t>sử bạn đang lo đang mắc một căn một bệnh lạ, và xác suất mắc bệnh là 0.0001. Bạn quyết định đi test và giả sử các phương pháp test là chính xác 90%. Dù vậy, nó cũng có khả năng cho ra kết quả false positive với xác suất 0.01. Hỏi xác suất để bạn mắc bệnh thực sự cho biết rằng kết quả test là dương tính thì bằng bao nhiêu?</a:t>
            </a:r>
          </a:p>
          <a:p>
            <a:pPr marL="0" indent="0" algn="ctr">
              <a:buNone/>
            </a:pPr>
            <a:r>
              <a:rPr lang="vi-VN" dirty="0" smtClean="0">
                <a:solidFill>
                  <a:schemeClr val="bg1"/>
                </a:solidFill>
              </a:rPr>
              <a:t>P(D</a:t>
            </a:r>
            <a:r>
              <a:rPr lang="vi-VN" dirty="0">
                <a:solidFill>
                  <a:schemeClr val="bg1"/>
                </a:solidFill>
              </a:rPr>
              <a:t>) = 0.001, 	P(+|D) = 0.9	</a:t>
            </a:r>
            <a:r>
              <a:rPr lang="en-US" dirty="0" smtClean="0">
                <a:solidFill>
                  <a:schemeClr val="bg1"/>
                </a:solidFill>
              </a:rPr>
              <a:t>	</a:t>
            </a:r>
            <a:r>
              <a:rPr lang="vi-VN" dirty="0" smtClean="0">
                <a:solidFill>
                  <a:schemeClr val="bg1"/>
                </a:solidFill>
              </a:rPr>
              <a:t>P</a:t>
            </a:r>
            <a:r>
              <a:rPr lang="vi-VN" dirty="0">
                <a:solidFill>
                  <a:schemeClr val="bg1"/>
                </a:solidFill>
              </a:rPr>
              <a:t>(+|D') = 0.01</a:t>
            </a:r>
            <a:endParaRPr lang="en-US" dirty="0">
              <a:solidFill>
                <a:schemeClr val="bg1"/>
              </a:solidFill>
            </a:endParaRPr>
          </a:p>
        </p:txBody>
      </p:sp>
      <p:pic>
        <p:nvPicPr>
          <p:cNvPr id="4" name="Picture 3"/>
          <p:cNvPicPr>
            <a:picLocks noChangeAspect="1"/>
          </p:cNvPicPr>
          <p:nvPr/>
        </p:nvPicPr>
        <p:blipFill>
          <a:blip r:embed="rId2"/>
          <a:stretch>
            <a:fillRect/>
          </a:stretch>
        </p:blipFill>
        <p:spPr>
          <a:xfrm>
            <a:off x="2589195" y="4577473"/>
            <a:ext cx="6339639" cy="1803275"/>
          </a:xfrm>
          <a:prstGeom prst="rect">
            <a:avLst/>
          </a:prstGeom>
        </p:spPr>
      </p:pic>
    </p:spTree>
    <p:extLst>
      <p:ext uri="{BB962C8B-B14F-4D97-AF65-F5344CB8AC3E}">
        <p14:creationId xmlns:p14="http://schemas.microsoft.com/office/powerpoint/2010/main" val="2611498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0"/>
            <a:ext cx="9905998" cy="1478570"/>
          </a:xfrm>
        </p:spPr>
        <p:txBody>
          <a:bodyPr/>
          <a:lstStyle/>
          <a:p>
            <a:r>
              <a:rPr lang="en-US" dirty="0" smtClean="0"/>
              <a:t>Các ví dụ - vd2</a:t>
            </a:r>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347537" y="1330483"/>
            <a:ext cx="9519386" cy="5330571"/>
          </a:xfrm>
          <a:prstGeom prst="rect">
            <a:avLst/>
          </a:prstGeom>
        </p:spPr>
      </p:pic>
    </p:spTree>
    <p:extLst>
      <p:ext uri="{BB962C8B-B14F-4D97-AF65-F5344CB8AC3E}">
        <p14:creationId xmlns:p14="http://schemas.microsoft.com/office/powerpoint/2010/main" val="420432183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306399"/>
            <a:ext cx="9905998" cy="1478570"/>
          </a:xfrm>
        </p:spPr>
        <p:txBody>
          <a:bodyPr/>
          <a:lstStyle/>
          <a:p>
            <a:r>
              <a:rPr lang="en-US" dirty="0" smtClean="0"/>
              <a:t>Các ví dụ - vd2</a:t>
            </a:r>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424540" y="1540904"/>
            <a:ext cx="8842112" cy="5148654"/>
          </a:xfrm>
          <a:prstGeom prst="rect">
            <a:avLst/>
          </a:prstGeom>
        </p:spPr>
      </p:pic>
    </p:spTree>
    <p:extLst>
      <p:ext uri="{BB962C8B-B14F-4D97-AF65-F5344CB8AC3E}">
        <p14:creationId xmlns:p14="http://schemas.microsoft.com/office/powerpoint/2010/main" val="186120253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0"/>
            <a:ext cx="9905998" cy="1478570"/>
          </a:xfrm>
        </p:spPr>
        <p:txBody>
          <a:bodyPr/>
          <a:lstStyle/>
          <a:p>
            <a:r>
              <a:rPr lang="en-US" dirty="0" smtClean="0"/>
              <a:t>CÁC VÍ DỤ - VD3</a:t>
            </a:r>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391517" y="1233907"/>
            <a:ext cx="9405787" cy="5410815"/>
          </a:xfrm>
          <a:prstGeom prst="rect">
            <a:avLst/>
          </a:prstGeom>
        </p:spPr>
      </p:pic>
    </p:spTree>
    <p:extLst>
      <p:ext uri="{BB962C8B-B14F-4D97-AF65-F5344CB8AC3E}">
        <p14:creationId xmlns:p14="http://schemas.microsoft.com/office/powerpoint/2010/main" val="218495768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118004"/>
            <a:ext cx="9905998" cy="1478570"/>
          </a:xfrm>
        </p:spPr>
        <p:txBody>
          <a:bodyPr/>
          <a:lstStyle/>
          <a:p>
            <a:r>
              <a:rPr lang="en-US" dirty="0" smtClean="0"/>
              <a:t>CÁC VÍ DỤ - VD3</a:t>
            </a:r>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141412" y="1369884"/>
            <a:ext cx="10165831" cy="5300919"/>
          </a:xfrm>
          <a:prstGeom prst="rect">
            <a:avLst/>
          </a:prstGeom>
        </p:spPr>
      </p:pic>
    </p:spTree>
    <p:extLst>
      <p:ext uri="{BB962C8B-B14F-4D97-AF65-F5344CB8AC3E}">
        <p14:creationId xmlns:p14="http://schemas.microsoft.com/office/powerpoint/2010/main" val="166698350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175756"/>
            <a:ext cx="9905998" cy="1306535"/>
          </a:xfrm>
        </p:spPr>
        <p:txBody>
          <a:bodyPr/>
          <a:lstStyle/>
          <a:p>
            <a:r>
              <a:rPr lang="en-US" dirty="0" smtClean="0"/>
              <a:t>CÁC VÍ DỤ - VD3</a:t>
            </a:r>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259041" y="1309036"/>
            <a:ext cx="9670739" cy="5101439"/>
          </a:xfrm>
          <a:prstGeom prst="rect">
            <a:avLst/>
          </a:prstGeom>
        </p:spPr>
      </p:pic>
    </p:spTree>
    <p:extLst>
      <p:ext uri="{BB962C8B-B14F-4D97-AF65-F5344CB8AC3E}">
        <p14:creationId xmlns:p14="http://schemas.microsoft.com/office/powerpoint/2010/main" val="322756707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200005"/>
            <a:ext cx="9905998" cy="1478570"/>
          </a:xfrm>
        </p:spPr>
        <p:txBody>
          <a:bodyPr/>
          <a:lstStyle/>
          <a:p>
            <a:r>
              <a:rPr lang="en-US" dirty="0" smtClean="0"/>
              <a:t>CÁC VÍ DỤ - VD3</a:t>
            </a:r>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357162" y="1678575"/>
            <a:ext cx="8667700" cy="4851911"/>
          </a:xfrm>
          <a:prstGeom prst="rect">
            <a:avLst/>
          </a:prstGeom>
        </p:spPr>
      </p:pic>
    </p:spTree>
    <p:extLst>
      <p:ext uri="{BB962C8B-B14F-4D97-AF65-F5344CB8AC3E}">
        <p14:creationId xmlns:p14="http://schemas.microsoft.com/office/powerpoint/2010/main" val="153030904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9385"/>
            <a:ext cx="9905998" cy="1478570"/>
          </a:xfrm>
        </p:spPr>
        <p:txBody>
          <a:bodyPr/>
          <a:lstStyle/>
          <a:p>
            <a:r>
              <a:rPr lang="en-US" dirty="0" smtClean="0"/>
              <a:t>NHẮC LẠI VỀ BIẾN NGẪU NHIÊN LIÊN TỤC</a:t>
            </a:r>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520792" y="1633731"/>
            <a:ext cx="8429073" cy="5123554"/>
          </a:xfrm>
          <a:prstGeom prst="rect">
            <a:avLst/>
          </a:prstGeom>
        </p:spPr>
      </p:pic>
    </p:spTree>
    <p:extLst>
      <p:ext uri="{BB962C8B-B14F-4D97-AF65-F5344CB8AC3E}">
        <p14:creationId xmlns:p14="http://schemas.microsoft.com/office/powerpoint/2010/main" val="107176355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389180"/>
            <a:ext cx="9905998" cy="1478570"/>
          </a:xfrm>
        </p:spPr>
        <p:txBody>
          <a:bodyPr/>
          <a:lstStyle/>
          <a:p>
            <a:r>
              <a:rPr lang="en-US" dirty="0" smtClean="0"/>
              <a:t>ĐỊNH LÝ BAYES VỚI THAM SỐ</a:t>
            </a:r>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597794" y="1867750"/>
            <a:ext cx="8677074" cy="4840407"/>
          </a:xfrm>
          <a:prstGeom prst="rect">
            <a:avLst/>
          </a:prstGeom>
        </p:spPr>
      </p:pic>
    </p:spTree>
    <p:extLst>
      <p:ext uri="{BB962C8B-B14F-4D97-AF65-F5344CB8AC3E}">
        <p14:creationId xmlns:p14="http://schemas.microsoft.com/office/powerpoint/2010/main" val="216456121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ưu điểm của thống kê thường</a:t>
            </a:r>
            <a:endParaRPr lang="en-US" dirty="0"/>
          </a:p>
        </p:txBody>
      </p:sp>
      <p:sp>
        <p:nvSpPr>
          <p:cNvPr id="3" name="Content Placeholder 2"/>
          <p:cNvSpPr>
            <a:spLocks noGrp="1"/>
          </p:cNvSpPr>
          <p:nvPr>
            <p:ph idx="1"/>
          </p:nvPr>
        </p:nvSpPr>
        <p:spPr/>
        <p:txBody>
          <a:bodyPr>
            <a:normAutofit fontScale="92500" lnSpcReduction="10000"/>
          </a:bodyPr>
          <a:lstStyle/>
          <a:p>
            <a:pPr algn="just"/>
            <a:r>
              <a:rPr lang="vi-VN" dirty="0" smtClean="0"/>
              <a:t>Có </a:t>
            </a:r>
            <a:r>
              <a:rPr lang="vi-VN" dirty="0"/>
              <a:t>nhiều công cụ được phát triển để kiểm </a:t>
            </a:r>
            <a:r>
              <a:rPr lang="vi-VN" dirty="0" smtClean="0"/>
              <a:t>soát</a:t>
            </a:r>
            <a:r>
              <a:rPr lang="en-US" dirty="0" smtClean="0"/>
              <a:t>, triển khai được các</a:t>
            </a:r>
            <a:r>
              <a:rPr lang="vi-VN" dirty="0" smtClean="0"/>
              <a:t> </a:t>
            </a:r>
            <a:r>
              <a:rPr lang="vi-VN" dirty="0"/>
              <a:t>quá trình thử nghiệm / giả lập.</a:t>
            </a:r>
          </a:p>
          <a:p>
            <a:pPr algn="just"/>
            <a:r>
              <a:rPr lang="vi-VN" dirty="0" smtClean="0"/>
              <a:t>Nếu </a:t>
            </a:r>
            <a:r>
              <a:rPr lang="vi-VN" dirty="0"/>
              <a:t>như không có các prior information cho trước về </a:t>
            </a:r>
            <a:r>
              <a:rPr lang="vi-VN" dirty="0" smtClean="0"/>
              <a:t>parameters</a:t>
            </a:r>
            <a:r>
              <a:rPr lang="en-US" dirty="0" smtClean="0"/>
              <a:t> thì chỉ có cách dùng thống kê thông thường.</a:t>
            </a:r>
            <a:endParaRPr lang="vi-VN" dirty="0"/>
          </a:p>
          <a:p>
            <a:r>
              <a:rPr lang="vi-VN" dirty="0" smtClean="0"/>
              <a:t>Các </a:t>
            </a:r>
            <a:r>
              <a:rPr lang="vi-VN" dirty="0"/>
              <a:t>phương pháp Bayes đòi hỏi nhiều tính toán Toán học </a:t>
            </a:r>
            <a:r>
              <a:rPr lang="vi-VN" dirty="0" smtClean="0"/>
              <a:t>hơn</a:t>
            </a:r>
            <a:r>
              <a:rPr lang="en-US" dirty="0" smtClean="0"/>
              <a:t>, phức tạp và rắc rối.</a:t>
            </a:r>
            <a:endParaRPr lang="vi-VN" dirty="0"/>
          </a:p>
          <a:p>
            <a:r>
              <a:rPr lang="vi-VN" dirty="0" smtClean="0"/>
              <a:t>Trước </a:t>
            </a:r>
            <a:r>
              <a:rPr lang="vi-VN" dirty="0"/>
              <a:t>đây, việc phân tích Bayes không khả thi do thiếu sức mạnh tính toán của máy </a:t>
            </a:r>
            <a:r>
              <a:rPr lang="vi-VN" dirty="0" smtClean="0"/>
              <a:t>móc</a:t>
            </a:r>
            <a:r>
              <a:rPr lang="en-US" dirty="0" smtClean="0"/>
              <a:t> (ngày nay thì mọi thứ đã phát triển hơn nhiều).</a:t>
            </a:r>
            <a:endParaRPr lang="en-US" dirty="0"/>
          </a:p>
        </p:txBody>
      </p:sp>
    </p:spTree>
    <p:extLst>
      <p:ext uri="{BB962C8B-B14F-4D97-AF65-F5344CB8AC3E}">
        <p14:creationId xmlns:p14="http://schemas.microsoft.com/office/powerpoint/2010/main" val="319031578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Ư</a:t>
            </a:r>
            <a:r>
              <a:rPr lang="en-US" dirty="0" smtClean="0"/>
              <a:t>u điểm của thống kê bayes</a:t>
            </a:r>
            <a:endParaRPr lang="en-US" dirty="0"/>
          </a:p>
        </p:txBody>
      </p:sp>
      <p:sp>
        <p:nvSpPr>
          <p:cNvPr id="3" name="Content Placeholder 2"/>
          <p:cNvSpPr>
            <a:spLocks noGrp="1"/>
          </p:cNvSpPr>
          <p:nvPr>
            <p:ph idx="1"/>
          </p:nvPr>
        </p:nvSpPr>
        <p:spPr/>
        <p:txBody>
          <a:bodyPr>
            <a:normAutofit fontScale="85000" lnSpcReduction="20000"/>
          </a:bodyPr>
          <a:lstStyle/>
          <a:p>
            <a:pPr algn="just"/>
            <a:r>
              <a:rPr lang="vi-VN" dirty="0" smtClean="0"/>
              <a:t>Có </a:t>
            </a:r>
            <a:r>
              <a:rPr lang="vi-VN" dirty="0"/>
              <a:t>thể kết hợp cụ thể kiến thức trước đây (và đánh giá của chuyên gia) về </a:t>
            </a:r>
            <a:r>
              <a:rPr lang="en-US" dirty="0" smtClean="0"/>
              <a:t>parameter. </a:t>
            </a:r>
            <a:r>
              <a:rPr lang="vi-VN" dirty="0" smtClean="0"/>
              <a:t>Cập </a:t>
            </a:r>
            <a:r>
              <a:rPr lang="vi-VN" dirty="0"/>
              <a:t>nhật, bổ sung thông tin, kiến thức rõ ràng về tham số sau khi quan sát dữ </a:t>
            </a:r>
            <a:r>
              <a:rPr lang="vi-VN" dirty="0" smtClean="0"/>
              <a:t>liệu</a:t>
            </a:r>
            <a:r>
              <a:rPr lang="en-US" dirty="0" smtClean="0"/>
              <a:t> và đ</a:t>
            </a:r>
            <a:r>
              <a:rPr lang="vi-VN" dirty="0" smtClean="0"/>
              <a:t>ưa </a:t>
            </a:r>
            <a:r>
              <a:rPr lang="vi-VN" dirty="0"/>
              <a:t>ra được các kết luận về dữ liệu xác suất một cách chuẩn mực liên quan đến các parameter cần quan tâm.</a:t>
            </a:r>
          </a:p>
          <a:p>
            <a:r>
              <a:rPr lang="vi-VN" dirty="0" smtClean="0"/>
              <a:t>Cung </a:t>
            </a:r>
            <a:r>
              <a:rPr lang="vi-VN" dirty="0"/>
              <a:t>cấp tính linh hoạt cho mô hình thống kê: Các mô hình phi tuyến tính cao với nhiều tham số có thể được phân tích.</a:t>
            </a:r>
          </a:p>
          <a:p>
            <a:pPr algn="just"/>
            <a:r>
              <a:rPr lang="vi-VN" dirty="0" smtClean="0"/>
              <a:t>Có </a:t>
            </a:r>
            <a:r>
              <a:rPr lang="vi-VN" dirty="0"/>
              <a:t>thể xử lý các tham số </a:t>
            </a:r>
            <a:r>
              <a:rPr lang="en-US" dirty="0" smtClean="0"/>
              <a:t>có tính chất </a:t>
            </a:r>
            <a:r>
              <a:rPr lang="vi-VN" dirty="0" smtClean="0"/>
              <a:t>"phiền </a:t>
            </a:r>
            <a:r>
              <a:rPr lang="vi-VN" dirty="0"/>
              <a:t>toái" gây ra </a:t>
            </a:r>
            <a:r>
              <a:rPr lang="en-US" dirty="0" smtClean="0"/>
              <a:t>nhiều</a:t>
            </a:r>
            <a:r>
              <a:rPr lang="vi-VN" dirty="0" smtClean="0"/>
              <a:t> </a:t>
            </a:r>
            <a:r>
              <a:rPr lang="vi-VN" dirty="0"/>
              <a:t>vấn đề đối với cách thống kê thường.</a:t>
            </a:r>
          </a:p>
          <a:p>
            <a:r>
              <a:rPr lang="vi-VN" dirty="0" smtClean="0"/>
              <a:t>Không </a:t>
            </a:r>
            <a:r>
              <a:rPr lang="vi-VN" dirty="0"/>
              <a:t>dựa vào kích cỡ của các mẫu lớn nhưng cũng đưa ra được các suy luận hợp lệ đối với cỡ mẫu nhỏ.</a:t>
            </a:r>
            <a:endParaRPr lang="en-US" dirty="0"/>
          </a:p>
        </p:txBody>
      </p:sp>
    </p:spTree>
    <p:extLst>
      <p:ext uri="{BB962C8B-B14F-4D97-AF65-F5344CB8AC3E}">
        <p14:creationId xmlns:p14="http://schemas.microsoft.com/office/powerpoint/2010/main" val="182449065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2537" y="2514695"/>
            <a:ext cx="9905998" cy="1478570"/>
          </a:xfrm>
        </p:spPr>
        <p:txBody>
          <a:bodyPr>
            <a:normAutofit/>
          </a:bodyPr>
          <a:lstStyle/>
          <a:p>
            <a:pPr algn="ctr"/>
            <a:r>
              <a:rPr lang="en-US" sz="5000" b="1" dirty="0" smtClean="0"/>
              <a:t>Q &amp; A</a:t>
            </a:r>
            <a:endParaRPr lang="en-US" sz="5000" b="1" dirty="0"/>
          </a:p>
        </p:txBody>
      </p:sp>
    </p:spTree>
    <p:extLst>
      <p:ext uri="{BB962C8B-B14F-4D97-AF65-F5344CB8AC3E}">
        <p14:creationId xmlns:p14="http://schemas.microsoft.com/office/powerpoint/2010/main" val="232254749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555</TotalTime>
  <Words>1142</Words>
  <Application>Microsoft Office PowerPoint</Application>
  <PresentationFormat>Widescreen</PresentationFormat>
  <Paragraphs>69</Paragraphs>
  <Slides>24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Arial</vt:lpstr>
      <vt:lpstr>Times New Roman</vt:lpstr>
      <vt:lpstr>Trebuchet MS</vt:lpstr>
      <vt:lpstr>Tw Cen MT</vt:lpstr>
      <vt:lpstr>Tw Cent MT</vt:lpstr>
      <vt:lpstr>UVN Saigon</vt:lpstr>
      <vt:lpstr>Wingdings</vt:lpstr>
      <vt:lpstr>Circuit</vt:lpstr>
      <vt:lpstr>GIỚI THIỆU VỀ SUY LUẬN BAYESIAN</vt:lpstr>
      <vt:lpstr>Thông tin khóa học</vt:lpstr>
      <vt:lpstr>PowerPoint Presentation</vt:lpstr>
      <vt:lpstr>GIỚI THIỆU</vt:lpstr>
      <vt:lpstr>GIỚI THIỆU</vt:lpstr>
      <vt:lpstr>Phân loại cách tính xác suất</vt:lpstr>
      <vt:lpstr>Frequentist/conventional/classical</vt:lpstr>
      <vt:lpstr>SUBJECTIVE/BAYESIAN INFERENCE</vt:lpstr>
      <vt:lpstr>SO SÁNH 2 CÁCH TIẾP CẬN</vt:lpstr>
      <vt:lpstr>NHẮC LẠI MỘT SỐ CÔNG THỨC</vt:lpstr>
      <vt:lpstr>ĐỊNH LÝ BAYES</vt:lpstr>
      <vt:lpstr>CONFUSION MATRIX</vt:lpstr>
      <vt:lpstr>CÁC VÍ DỤ - VD 1</vt:lpstr>
      <vt:lpstr>Các ví dụ - vd2</vt:lpstr>
      <vt:lpstr>Các ví dụ - vd2</vt:lpstr>
      <vt:lpstr>CÁC VÍ DỤ - VD3</vt:lpstr>
      <vt:lpstr>CÁC VÍ DỤ - VD3</vt:lpstr>
      <vt:lpstr>CÁC VÍ DỤ - VD3</vt:lpstr>
      <vt:lpstr>CÁC VÍ DỤ - VD3</vt:lpstr>
      <vt:lpstr>NHẮC LẠI VỀ BIẾN NGẪU NHIÊN LIÊN TỤC</vt:lpstr>
      <vt:lpstr>ĐỊNH LÝ BAYES VỚI THAM SỐ</vt:lpstr>
      <vt:lpstr>ưu điểm của thống kê thường</vt:lpstr>
      <vt:lpstr>Ưu điểm của thống kê bayes</vt:lpstr>
      <vt:lpstr>Q &amp; 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GIỚI THIỆU VỀ BAYESIAN ANALYSIS</dc:title>
  <dc:creator>Lữ Lê Phúc</dc:creator>
  <cp:lastModifiedBy>Lữ Lê Phúc</cp:lastModifiedBy>
  <cp:revision>66</cp:revision>
  <dcterms:created xsi:type="dcterms:W3CDTF">2022-08-11T15:14:01Z</dcterms:created>
  <dcterms:modified xsi:type="dcterms:W3CDTF">2022-08-17T12:28:03Z</dcterms:modified>
</cp:coreProperties>
</file>